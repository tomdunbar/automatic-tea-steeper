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9"/>
  </p:notesMasterIdLst>
  <p:sldIdLst>
    <p:sldId id="284" r:id="rId2"/>
    <p:sldId id="274" r:id="rId3"/>
    <p:sldId id="259" r:id="rId4"/>
    <p:sldId id="263" r:id="rId5"/>
    <p:sldId id="260" r:id="rId6"/>
    <p:sldId id="279" r:id="rId7"/>
    <p:sldId id="276" r:id="rId8"/>
    <p:sldId id="280" r:id="rId9"/>
    <p:sldId id="265" r:id="rId10"/>
    <p:sldId id="261" r:id="rId11"/>
    <p:sldId id="278" r:id="rId12"/>
    <p:sldId id="270" r:id="rId13"/>
    <p:sldId id="283" r:id="rId14"/>
    <p:sldId id="268" r:id="rId15"/>
    <p:sldId id="275" r:id="rId16"/>
    <p:sldId id="267" r:id="rId17"/>
    <p:sldId id="264" r:id="rId1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 id="{C2C13760-4EA2-4D4E-B52F-EDF1DF1A0BF1}">
          <p14:sldIdLst>
            <p14:sldId id="284"/>
            <p14:sldId id="274"/>
            <p14:sldId id="259"/>
            <p14:sldId id="263"/>
            <p14:sldId id="260"/>
          </p14:sldIdLst>
        </p14:section>
        <p14:section name="Main Pillar and Support" id="{58545663-9A7C-457E-ACAD-F85C3CFED4DE}">
          <p14:sldIdLst/>
        </p14:section>
        <p14:section name="Upper Static Arms" id="{D3802E7B-C822-4C46-BB38-8A35AE93200D}">
          <p14:sldIdLst>
            <p14:sldId id="279"/>
          </p14:sldIdLst>
        </p14:section>
        <p14:section name="Lower Static Arms" id="{87205420-EED8-40FE-AFAD-4C83939A241A}">
          <p14:sldIdLst/>
        </p14:section>
        <p14:section name="Rotating Assembly" id="{32CFDEF5-71A7-4288-B7A7-C0F50608FADB}">
          <p14:sldIdLst>
            <p14:sldId id="276"/>
            <p14:sldId id="280"/>
          </p14:sldIdLst>
        </p14:section>
        <p14:section name="Wheel and Drum" id="{7DB98A78-9F45-4255-9A67-B5ADCF84431A}">
          <p14:sldIdLst>
            <p14:sldId id="265"/>
          </p14:sldIdLst>
        </p14:section>
        <p14:section name="Steeping Complete Contraption" id="{89D0B173-F427-4D8A-9D7D-633E32065960}">
          <p14:sldIdLst>
            <p14:sldId id="261"/>
            <p14:sldId id="278"/>
            <p14:sldId id="270"/>
            <p14:sldId id="283"/>
          </p14:sldIdLst>
        </p14:section>
        <p14:section name="Wooden Base" id="{00C95CBC-8A9E-4B15-8F7B-021893E5B5C2}">
          <p14:sldIdLst>
            <p14:sldId id="268"/>
            <p14:sldId id="275"/>
          </p14:sldIdLst>
        </p14:section>
        <p14:section name="String and Weight" id="{FBFEEC59-CB02-4B53-9AB5-B18688BF7190}">
          <p14:sldIdLst>
            <p14:sldId id="267"/>
          </p14:sldIdLst>
        </p14:section>
        <p14:section name="Other" id="{E265F478-E789-4FDE-AC32-AF5E0FC0B276}">
          <p14:sldIdLst>
            <p14:sldId id="264"/>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0533" autoAdjust="0"/>
    <p:restoredTop sz="94660"/>
  </p:normalViewPr>
  <p:slideViewPr>
    <p:cSldViewPr snapToGrid="0">
      <p:cViewPr varScale="1">
        <p:scale>
          <a:sx n="72" d="100"/>
          <a:sy n="72" d="100"/>
        </p:scale>
        <p:origin x="480" y="72"/>
      </p:cViewPr>
      <p:guideLst/>
    </p:cSldViewPr>
  </p:slideViewPr>
  <p:notesTextViewPr>
    <p:cViewPr>
      <p:scale>
        <a:sx n="1" d="1"/>
        <a:sy n="1" d="1"/>
      </p:scale>
      <p:origin x="0" y="0"/>
    </p:cViewPr>
  </p:notesTextViewPr>
  <p:sorterViewPr>
    <p:cViewPr varScale="1">
      <p:scale>
        <a:sx n="100" d="100"/>
        <a:sy n="100" d="100"/>
      </p:scale>
      <p:origin x="0" y="-6558"/>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91D8B96-B175-4B12-A095-A7B54A04B3D1}" type="datetimeFigureOut">
              <a:rPr lang="en-US" smtClean="0"/>
              <a:t>10/5/2026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FDE8C4D-C8F9-455A-92E1-ACE16D8CA483}" type="slidenum">
              <a:rPr lang="en-US" smtClean="0"/>
              <a:t>‹#›</a:t>
            </a:fld>
            <a:endParaRPr lang="en-US"/>
          </a:p>
        </p:txBody>
      </p:sp>
    </p:spTree>
    <p:extLst>
      <p:ext uri="{BB962C8B-B14F-4D97-AF65-F5344CB8AC3E}">
        <p14:creationId xmlns:p14="http://schemas.microsoft.com/office/powerpoint/2010/main" val="346635522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FDE8C4D-C8F9-455A-92E1-ACE16D8CA483}" type="slidenum">
              <a:rPr lang="en-US" smtClean="0"/>
              <a:t>13</a:t>
            </a:fld>
            <a:endParaRPr lang="en-US"/>
          </a:p>
        </p:txBody>
      </p:sp>
    </p:spTree>
    <p:extLst>
      <p:ext uri="{BB962C8B-B14F-4D97-AF65-F5344CB8AC3E}">
        <p14:creationId xmlns:p14="http://schemas.microsoft.com/office/powerpoint/2010/main" val="186613257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F3A8CA-C65E-8D41-00C6-90C5E8F926B0}"/>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BF58D5AD-FCBE-8537-EF95-F5E90926EEE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D6FDA5D5-B61D-7E02-E183-4063590873F4}"/>
              </a:ext>
            </a:extLst>
          </p:cNvPr>
          <p:cNvSpPr>
            <a:spLocks noGrp="1"/>
          </p:cNvSpPr>
          <p:nvPr>
            <p:ph type="dt" sz="half" idx="10"/>
          </p:nvPr>
        </p:nvSpPr>
        <p:spPr/>
        <p:txBody>
          <a:bodyPr/>
          <a:lstStyle/>
          <a:p>
            <a:fld id="{00A8F1EB-7B54-4224-9740-E381C9723DD6}" type="datetimeFigureOut">
              <a:rPr lang="en-US" smtClean="0"/>
              <a:t>10/5/2026</a:t>
            </a:fld>
            <a:endParaRPr lang="en-US"/>
          </a:p>
        </p:txBody>
      </p:sp>
      <p:sp>
        <p:nvSpPr>
          <p:cNvPr id="5" name="Footer Placeholder 4">
            <a:extLst>
              <a:ext uri="{FF2B5EF4-FFF2-40B4-BE49-F238E27FC236}">
                <a16:creationId xmlns:a16="http://schemas.microsoft.com/office/drawing/2014/main" id="{87D3CAFA-C1A0-6C33-E983-F625F4BDC45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42308B9-CEEB-7DD2-81C7-44715C55B33F}"/>
              </a:ext>
            </a:extLst>
          </p:cNvPr>
          <p:cNvSpPr>
            <a:spLocks noGrp="1"/>
          </p:cNvSpPr>
          <p:nvPr>
            <p:ph type="sldNum" sz="quarter" idx="12"/>
          </p:nvPr>
        </p:nvSpPr>
        <p:spPr/>
        <p:txBody>
          <a:bodyPr/>
          <a:lstStyle/>
          <a:p>
            <a:fld id="{97400431-6770-4F58-B6C0-81A94E307AD7}" type="slidenum">
              <a:rPr lang="en-US" smtClean="0"/>
              <a:t>‹#›</a:t>
            </a:fld>
            <a:endParaRPr lang="en-US"/>
          </a:p>
        </p:txBody>
      </p:sp>
    </p:spTree>
    <p:extLst>
      <p:ext uri="{BB962C8B-B14F-4D97-AF65-F5344CB8AC3E}">
        <p14:creationId xmlns:p14="http://schemas.microsoft.com/office/powerpoint/2010/main" val="235285288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E42321-F8F5-C25A-4907-30C4697CCD4E}"/>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77581948-5ED0-F007-6FCC-2B34268EC7C9}"/>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116FAB9-748B-2C68-387C-17FD3B697A46}"/>
              </a:ext>
            </a:extLst>
          </p:cNvPr>
          <p:cNvSpPr>
            <a:spLocks noGrp="1"/>
          </p:cNvSpPr>
          <p:nvPr>
            <p:ph type="dt" sz="half" idx="10"/>
          </p:nvPr>
        </p:nvSpPr>
        <p:spPr/>
        <p:txBody>
          <a:bodyPr/>
          <a:lstStyle/>
          <a:p>
            <a:fld id="{00A8F1EB-7B54-4224-9740-E381C9723DD6}" type="datetimeFigureOut">
              <a:rPr lang="en-US" smtClean="0"/>
              <a:t>10/5/2026</a:t>
            </a:fld>
            <a:endParaRPr lang="en-US"/>
          </a:p>
        </p:txBody>
      </p:sp>
      <p:sp>
        <p:nvSpPr>
          <p:cNvPr id="5" name="Footer Placeholder 4">
            <a:extLst>
              <a:ext uri="{FF2B5EF4-FFF2-40B4-BE49-F238E27FC236}">
                <a16:creationId xmlns:a16="http://schemas.microsoft.com/office/drawing/2014/main" id="{1C8F88F8-0778-5F79-C789-A0F56B00059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BB8D6D4-1388-84D0-1048-4D4E917D7A09}"/>
              </a:ext>
            </a:extLst>
          </p:cNvPr>
          <p:cNvSpPr>
            <a:spLocks noGrp="1"/>
          </p:cNvSpPr>
          <p:nvPr>
            <p:ph type="sldNum" sz="quarter" idx="12"/>
          </p:nvPr>
        </p:nvSpPr>
        <p:spPr/>
        <p:txBody>
          <a:bodyPr/>
          <a:lstStyle/>
          <a:p>
            <a:fld id="{97400431-6770-4F58-B6C0-81A94E307AD7}" type="slidenum">
              <a:rPr lang="en-US" smtClean="0"/>
              <a:t>‹#›</a:t>
            </a:fld>
            <a:endParaRPr lang="en-US"/>
          </a:p>
        </p:txBody>
      </p:sp>
    </p:spTree>
    <p:extLst>
      <p:ext uri="{BB962C8B-B14F-4D97-AF65-F5344CB8AC3E}">
        <p14:creationId xmlns:p14="http://schemas.microsoft.com/office/powerpoint/2010/main" val="411770882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37265C-15BE-789E-FB66-E9F026C53168}"/>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7AF9DECF-7009-5CD9-4B91-7AF5752FF8C3}"/>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5730C53A-1001-B827-A0BD-4A6E69F691DD}"/>
              </a:ext>
            </a:extLst>
          </p:cNvPr>
          <p:cNvSpPr>
            <a:spLocks noGrp="1"/>
          </p:cNvSpPr>
          <p:nvPr>
            <p:ph type="dt" sz="half" idx="10"/>
          </p:nvPr>
        </p:nvSpPr>
        <p:spPr/>
        <p:txBody>
          <a:bodyPr/>
          <a:lstStyle/>
          <a:p>
            <a:fld id="{00A8F1EB-7B54-4224-9740-E381C9723DD6}" type="datetimeFigureOut">
              <a:rPr lang="en-US" smtClean="0"/>
              <a:t>10/5/2026</a:t>
            </a:fld>
            <a:endParaRPr lang="en-US"/>
          </a:p>
        </p:txBody>
      </p:sp>
      <p:sp>
        <p:nvSpPr>
          <p:cNvPr id="5" name="Footer Placeholder 4">
            <a:extLst>
              <a:ext uri="{FF2B5EF4-FFF2-40B4-BE49-F238E27FC236}">
                <a16:creationId xmlns:a16="http://schemas.microsoft.com/office/drawing/2014/main" id="{AF4BFD4C-252E-EF7C-F7B4-218B887A43D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94CCBC2-BD61-0079-FDCE-4E16B45F8549}"/>
              </a:ext>
            </a:extLst>
          </p:cNvPr>
          <p:cNvSpPr>
            <a:spLocks noGrp="1"/>
          </p:cNvSpPr>
          <p:nvPr>
            <p:ph type="sldNum" sz="quarter" idx="12"/>
          </p:nvPr>
        </p:nvSpPr>
        <p:spPr/>
        <p:txBody>
          <a:bodyPr/>
          <a:lstStyle/>
          <a:p>
            <a:fld id="{97400431-6770-4F58-B6C0-81A94E307AD7}" type="slidenum">
              <a:rPr lang="en-US" smtClean="0"/>
              <a:t>‹#›</a:t>
            </a:fld>
            <a:endParaRPr lang="en-US"/>
          </a:p>
        </p:txBody>
      </p:sp>
    </p:spTree>
    <p:extLst>
      <p:ext uri="{BB962C8B-B14F-4D97-AF65-F5344CB8AC3E}">
        <p14:creationId xmlns:p14="http://schemas.microsoft.com/office/powerpoint/2010/main" val="25906678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55CC64-1197-651B-28E9-81033AA8CC39}"/>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399F0A34-03A7-951F-BB9F-587E549CD387}"/>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B9E691BF-B858-7E7A-7701-509DC81D2768}"/>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C0C86026-AECF-42EB-808C-B3219C46DBD7}"/>
              </a:ext>
            </a:extLst>
          </p:cNvPr>
          <p:cNvSpPr>
            <a:spLocks noGrp="1"/>
          </p:cNvSpPr>
          <p:nvPr>
            <p:ph type="dt" sz="half" idx="10"/>
          </p:nvPr>
        </p:nvSpPr>
        <p:spPr/>
        <p:txBody>
          <a:bodyPr/>
          <a:lstStyle/>
          <a:p>
            <a:fld id="{00A8F1EB-7B54-4224-9740-E381C9723DD6}" type="datetimeFigureOut">
              <a:rPr lang="en-US" smtClean="0"/>
              <a:t>10/5/2026</a:t>
            </a:fld>
            <a:endParaRPr lang="en-US"/>
          </a:p>
        </p:txBody>
      </p:sp>
      <p:sp>
        <p:nvSpPr>
          <p:cNvPr id="6" name="Footer Placeholder 5">
            <a:extLst>
              <a:ext uri="{FF2B5EF4-FFF2-40B4-BE49-F238E27FC236}">
                <a16:creationId xmlns:a16="http://schemas.microsoft.com/office/drawing/2014/main" id="{443F15AC-85A9-3716-9875-1AE12EA2D7A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84CED59-693E-9822-0F33-EF8C15CAB0FB}"/>
              </a:ext>
            </a:extLst>
          </p:cNvPr>
          <p:cNvSpPr>
            <a:spLocks noGrp="1"/>
          </p:cNvSpPr>
          <p:nvPr>
            <p:ph type="sldNum" sz="quarter" idx="12"/>
          </p:nvPr>
        </p:nvSpPr>
        <p:spPr/>
        <p:txBody>
          <a:bodyPr/>
          <a:lstStyle/>
          <a:p>
            <a:fld id="{97400431-6770-4F58-B6C0-81A94E307AD7}" type="slidenum">
              <a:rPr lang="en-US" smtClean="0"/>
              <a:t>‹#›</a:t>
            </a:fld>
            <a:endParaRPr lang="en-US"/>
          </a:p>
        </p:txBody>
      </p:sp>
    </p:spTree>
    <p:extLst>
      <p:ext uri="{BB962C8B-B14F-4D97-AF65-F5344CB8AC3E}">
        <p14:creationId xmlns:p14="http://schemas.microsoft.com/office/powerpoint/2010/main" val="306128377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F5F286-AEB0-5FEB-AA41-C0F4C4D91DC6}"/>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78AE9640-2205-2845-8309-184581ACF6FC}"/>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7D6983C6-0314-E99C-C911-E27CF963003E}"/>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E7829ED3-DB44-F682-3A61-EF0766C675A0}"/>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DF8EC325-FFF9-B945-358D-175EEA917B14}"/>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6C450995-2487-8117-79D2-FAD6AFC18556}"/>
              </a:ext>
            </a:extLst>
          </p:cNvPr>
          <p:cNvSpPr>
            <a:spLocks noGrp="1"/>
          </p:cNvSpPr>
          <p:nvPr>
            <p:ph type="dt" sz="half" idx="10"/>
          </p:nvPr>
        </p:nvSpPr>
        <p:spPr/>
        <p:txBody>
          <a:bodyPr/>
          <a:lstStyle/>
          <a:p>
            <a:fld id="{00A8F1EB-7B54-4224-9740-E381C9723DD6}" type="datetimeFigureOut">
              <a:rPr lang="en-US" smtClean="0"/>
              <a:t>10/5/2026</a:t>
            </a:fld>
            <a:endParaRPr lang="en-US"/>
          </a:p>
        </p:txBody>
      </p:sp>
      <p:sp>
        <p:nvSpPr>
          <p:cNvPr id="8" name="Footer Placeholder 7">
            <a:extLst>
              <a:ext uri="{FF2B5EF4-FFF2-40B4-BE49-F238E27FC236}">
                <a16:creationId xmlns:a16="http://schemas.microsoft.com/office/drawing/2014/main" id="{9AEC97BD-42DC-5EEB-2401-2FB38A6ED9D5}"/>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C2EFCA83-AA8A-0080-2164-02BAE6CF822B}"/>
              </a:ext>
            </a:extLst>
          </p:cNvPr>
          <p:cNvSpPr>
            <a:spLocks noGrp="1"/>
          </p:cNvSpPr>
          <p:nvPr>
            <p:ph type="sldNum" sz="quarter" idx="12"/>
          </p:nvPr>
        </p:nvSpPr>
        <p:spPr/>
        <p:txBody>
          <a:bodyPr/>
          <a:lstStyle/>
          <a:p>
            <a:fld id="{97400431-6770-4F58-B6C0-81A94E307AD7}" type="slidenum">
              <a:rPr lang="en-US" smtClean="0"/>
              <a:t>‹#›</a:t>
            </a:fld>
            <a:endParaRPr lang="en-US"/>
          </a:p>
        </p:txBody>
      </p:sp>
    </p:spTree>
    <p:extLst>
      <p:ext uri="{BB962C8B-B14F-4D97-AF65-F5344CB8AC3E}">
        <p14:creationId xmlns:p14="http://schemas.microsoft.com/office/powerpoint/2010/main" val="119651551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7ED255-CDBF-DBC9-D24D-A78755CBF61A}"/>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EE21D37A-E340-CB2B-51C0-ADEB52617315}"/>
              </a:ext>
            </a:extLst>
          </p:cNvPr>
          <p:cNvSpPr>
            <a:spLocks noGrp="1"/>
          </p:cNvSpPr>
          <p:nvPr>
            <p:ph type="dt" sz="half" idx="10"/>
          </p:nvPr>
        </p:nvSpPr>
        <p:spPr/>
        <p:txBody>
          <a:bodyPr/>
          <a:lstStyle/>
          <a:p>
            <a:fld id="{00A8F1EB-7B54-4224-9740-E381C9723DD6}" type="datetimeFigureOut">
              <a:rPr lang="en-US" smtClean="0"/>
              <a:t>10/5/2026</a:t>
            </a:fld>
            <a:endParaRPr lang="en-US"/>
          </a:p>
        </p:txBody>
      </p:sp>
      <p:sp>
        <p:nvSpPr>
          <p:cNvPr id="4" name="Footer Placeholder 3">
            <a:extLst>
              <a:ext uri="{FF2B5EF4-FFF2-40B4-BE49-F238E27FC236}">
                <a16:creationId xmlns:a16="http://schemas.microsoft.com/office/drawing/2014/main" id="{79F701FD-6511-1249-1F94-2A169316C2A4}"/>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435F40E8-4FE5-1329-E768-B9900B0E1AD0}"/>
              </a:ext>
            </a:extLst>
          </p:cNvPr>
          <p:cNvSpPr>
            <a:spLocks noGrp="1"/>
          </p:cNvSpPr>
          <p:nvPr>
            <p:ph type="sldNum" sz="quarter" idx="12"/>
          </p:nvPr>
        </p:nvSpPr>
        <p:spPr/>
        <p:txBody>
          <a:bodyPr/>
          <a:lstStyle/>
          <a:p>
            <a:fld id="{97400431-6770-4F58-B6C0-81A94E307AD7}" type="slidenum">
              <a:rPr lang="en-US" smtClean="0"/>
              <a:t>‹#›</a:t>
            </a:fld>
            <a:endParaRPr lang="en-US"/>
          </a:p>
        </p:txBody>
      </p:sp>
    </p:spTree>
    <p:extLst>
      <p:ext uri="{BB962C8B-B14F-4D97-AF65-F5344CB8AC3E}">
        <p14:creationId xmlns:p14="http://schemas.microsoft.com/office/powerpoint/2010/main" val="236713929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8313AA8B-BD28-DD7F-C294-6654331F43C7}"/>
              </a:ext>
            </a:extLst>
          </p:cNvPr>
          <p:cNvSpPr>
            <a:spLocks noGrp="1"/>
          </p:cNvSpPr>
          <p:nvPr>
            <p:ph type="dt" sz="half" idx="10"/>
          </p:nvPr>
        </p:nvSpPr>
        <p:spPr/>
        <p:txBody>
          <a:bodyPr/>
          <a:lstStyle/>
          <a:p>
            <a:fld id="{00A8F1EB-7B54-4224-9740-E381C9723DD6}" type="datetimeFigureOut">
              <a:rPr lang="en-US" smtClean="0"/>
              <a:t>10/5/2026</a:t>
            </a:fld>
            <a:endParaRPr lang="en-US"/>
          </a:p>
        </p:txBody>
      </p:sp>
      <p:sp>
        <p:nvSpPr>
          <p:cNvPr id="3" name="Footer Placeholder 2">
            <a:extLst>
              <a:ext uri="{FF2B5EF4-FFF2-40B4-BE49-F238E27FC236}">
                <a16:creationId xmlns:a16="http://schemas.microsoft.com/office/drawing/2014/main" id="{15969488-8001-24FE-9DD4-48A43AD4F46E}"/>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1D6B4C5D-A88E-1497-7E43-33B0CEE4BC1D}"/>
              </a:ext>
            </a:extLst>
          </p:cNvPr>
          <p:cNvSpPr>
            <a:spLocks noGrp="1"/>
          </p:cNvSpPr>
          <p:nvPr>
            <p:ph type="sldNum" sz="quarter" idx="12"/>
          </p:nvPr>
        </p:nvSpPr>
        <p:spPr/>
        <p:txBody>
          <a:bodyPr/>
          <a:lstStyle/>
          <a:p>
            <a:fld id="{97400431-6770-4F58-B6C0-81A94E307AD7}" type="slidenum">
              <a:rPr lang="en-US" smtClean="0"/>
              <a:t>‹#›</a:t>
            </a:fld>
            <a:endParaRPr lang="en-US"/>
          </a:p>
        </p:txBody>
      </p:sp>
    </p:spTree>
    <p:extLst>
      <p:ext uri="{BB962C8B-B14F-4D97-AF65-F5344CB8AC3E}">
        <p14:creationId xmlns:p14="http://schemas.microsoft.com/office/powerpoint/2010/main" val="45656068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82C521-FE04-A441-73D2-9E7219D6BCB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4A4B67E9-8ED5-546F-1066-019AF7118290}"/>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86C11E05-D493-B4DC-CB68-B09349258A6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AE1ECC3-C87A-2EEF-81A6-3E3DFE8ACF47}"/>
              </a:ext>
            </a:extLst>
          </p:cNvPr>
          <p:cNvSpPr>
            <a:spLocks noGrp="1"/>
          </p:cNvSpPr>
          <p:nvPr>
            <p:ph type="dt" sz="half" idx="10"/>
          </p:nvPr>
        </p:nvSpPr>
        <p:spPr/>
        <p:txBody>
          <a:bodyPr/>
          <a:lstStyle/>
          <a:p>
            <a:fld id="{00A8F1EB-7B54-4224-9740-E381C9723DD6}" type="datetimeFigureOut">
              <a:rPr lang="en-US" smtClean="0"/>
              <a:t>10/5/2026</a:t>
            </a:fld>
            <a:endParaRPr lang="en-US"/>
          </a:p>
        </p:txBody>
      </p:sp>
      <p:sp>
        <p:nvSpPr>
          <p:cNvPr id="6" name="Footer Placeholder 5">
            <a:extLst>
              <a:ext uri="{FF2B5EF4-FFF2-40B4-BE49-F238E27FC236}">
                <a16:creationId xmlns:a16="http://schemas.microsoft.com/office/drawing/2014/main" id="{EAEB2628-DFC1-4891-2746-05D1BA0C340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50BAB16-248F-0322-AF98-8641625E02A4}"/>
              </a:ext>
            </a:extLst>
          </p:cNvPr>
          <p:cNvSpPr>
            <a:spLocks noGrp="1"/>
          </p:cNvSpPr>
          <p:nvPr>
            <p:ph type="sldNum" sz="quarter" idx="12"/>
          </p:nvPr>
        </p:nvSpPr>
        <p:spPr/>
        <p:txBody>
          <a:bodyPr/>
          <a:lstStyle/>
          <a:p>
            <a:fld id="{97400431-6770-4F58-B6C0-81A94E307AD7}" type="slidenum">
              <a:rPr lang="en-US" smtClean="0"/>
              <a:t>‹#›</a:t>
            </a:fld>
            <a:endParaRPr lang="en-US"/>
          </a:p>
        </p:txBody>
      </p:sp>
    </p:spTree>
    <p:extLst>
      <p:ext uri="{BB962C8B-B14F-4D97-AF65-F5344CB8AC3E}">
        <p14:creationId xmlns:p14="http://schemas.microsoft.com/office/powerpoint/2010/main" val="311911904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96AC96-2CEC-AC82-A055-17395C6C810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C0B953BA-75DB-88D5-9E3E-43DEEDB06675}"/>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D9A2285A-1402-4EAF-6700-7DFBB182543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668E79B-D9C6-02B4-5059-5BA5FD338EB1}"/>
              </a:ext>
            </a:extLst>
          </p:cNvPr>
          <p:cNvSpPr>
            <a:spLocks noGrp="1"/>
          </p:cNvSpPr>
          <p:nvPr>
            <p:ph type="dt" sz="half" idx="10"/>
          </p:nvPr>
        </p:nvSpPr>
        <p:spPr/>
        <p:txBody>
          <a:bodyPr/>
          <a:lstStyle/>
          <a:p>
            <a:fld id="{00A8F1EB-7B54-4224-9740-E381C9723DD6}" type="datetimeFigureOut">
              <a:rPr lang="en-US" smtClean="0"/>
              <a:t>10/5/2026</a:t>
            </a:fld>
            <a:endParaRPr lang="en-US"/>
          </a:p>
        </p:txBody>
      </p:sp>
      <p:sp>
        <p:nvSpPr>
          <p:cNvPr id="6" name="Footer Placeholder 5">
            <a:extLst>
              <a:ext uri="{FF2B5EF4-FFF2-40B4-BE49-F238E27FC236}">
                <a16:creationId xmlns:a16="http://schemas.microsoft.com/office/drawing/2014/main" id="{B81BC4F2-8B6F-4FC5-3DED-8FDDB0BAD04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0CDF3F1-B316-9A9A-772B-34482B14F5C2}"/>
              </a:ext>
            </a:extLst>
          </p:cNvPr>
          <p:cNvSpPr>
            <a:spLocks noGrp="1"/>
          </p:cNvSpPr>
          <p:nvPr>
            <p:ph type="sldNum" sz="quarter" idx="12"/>
          </p:nvPr>
        </p:nvSpPr>
        <p:spPr/>
        <p:txBody>
          <a:bodyPr/>
          <a:lstStyle/>
          <a:p>
            <a:fld id="{97400431-6770-4F58-B6C0-81A94E307AD7}" type="slidenum">
              <a:rPr lang="en-US" smtClean="0"/>
              <a:t>‹#›</a:t>
            </a:fld>
            <a:endParaRPr lang="en-US"/>
          </a:p>
        </p:txBody>
      </p:sp>
    </p:spTree>
    <p:extLst>
      <p:ext uri="{BB962C8B-B14F-4D97-AF65-F5344CB8AC3E}">
        <p14:creationId xmlns:p14="http://schemas.microsoft.com/office/powerpoint/2010/main" val="263941836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DDC2E2-9444-DC13-DCCF-156EE066FCB4}"/>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D79C5F98-2ABA-0B75-1EC8-533822185FE9}"/>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02C0C4F-9367-FE65-0B8C-EFCE69FB5B8C}"/>
              </a:ext>
            </a:extLst>
          </p:cNvPr>
          <p:cNvSpPr>
            <a:spLocks noGrp="1"/>
          </p:cNvSpPr>
          <p:nvPr>
            <p:ph type="dt" sz="half" idx="10"/>
          </p:nvPr>
        </p:nvSpPr>
        <p:spPr/>
        <p:txBody>
          <a:bodyPr/>
          <a:lstStyle/>
          <a:p>
            <a:fld id="{00A8F1EB-7B54-4224-9740-E381C9723DD6}" type="datetimeFigureOut">
              <a:rPr lang="en-US" smtClean="0"/>
              <a:t>10/5/2026</a:t>
            </a:fld>
            <a:endParaRPr lang="en-US"/>
          </a:p>
        </p:txBody>
      </p:sp>
      <p:sp>
        <p:nvSpPr>
          <p:cNvPr id="5" name="Footer Placeholder 4">
            <a:extLst>
              <a:ext uri="{FF2B5EF4-FFF2-40B4-BE49-F238E27FC236}">
                <a16:creationId xmlns:a16="http://schemas.microsoft.com/office/drawing/2014/main" id="{9ED13E4C-AA8C-1D8B-0DAD-426A76E7E68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6A7CF80-9537-6BD0-36CD-AB083704B62A}"/>
              </a:ext>
            </a:extLst>
          </p:cNvPr>
          <p:cNvSpPr>
            <a:spLocks noGrp="1"/>
          </p:cNvSpPr>
          <p:nvPr>
            <p:ph type="sldNum" sz="quarter" idx="12"/>
          </p:nvPr>
        </p:nvSpPr>
        <p:spPr/>
        <p:txBody>
          <a:bodyPr/>
          <a:lstStyle/>
          <a:p>
            <a:fld id="{97400431-6770-4F58-B6C0-81A94E307AD7}" type="slidenum">
              <a:rPr lang="en-US" smtClean="0"/>
              <a:t>‹#›</a:t>
            </a:fld>
            <a:endParaRPr lang="en-US"/>
          </a:p>
        </p:txBody>
      </p:sp>
    </p:spTree>
    <p:extLst>
      <p:ext uri="{BB962C8B-B14F-4D97-AF65-F5344CB8AC3E}">
        <p14:creationId xmlns:p14="http://schemas.microsoft.com/office/powerpoint/2010/main" val="259941541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051B5B9F-25F8-DECB-11A1-651301521E7B}"/>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86201E70-767E-DB35-DF80-E173841F7346}"/>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082C754-EDA1-3EDC-40D0-C00FDB7F6B6E}"/>
              </a:ext>
            </a:extLst>
          </p:cNvPr>
          <p:cNvSpPr>
            <a:spLocks noGrp="1"/>
          </p:cNvSpPr>
          <p:nvPr>
            <p:ph type="dt" sz="half" idx="10"/>
          </p:nvPr>
        </p:nvSpPr>
        <p:spPr/>
        <p:txBody>
          <a:bodyPr/>
          <a:lstStyle/>
          <a:p>
            <a:fld id="{00A8F1EB-7B54-4224-9740-E381C9723DD6}" type="datetimeFigureOut">
              <a:rPr lang="en-US" smtClean="0"/>
              <a:t>10/5/2026</a:t>
            </a:fld>
            <a:endParaRPr lang="en-US"/>
          </a:p>
        </p:txBody>
      </p:sp>
      <p:sp>
        <p:nvSpPr>
          <p:cNvPr id="5" name="Footer Placeholder 4">
            <a:extLst>
              <a:ext uri="{FF2B5EF4-FFF2-40B4-BE49-F238E27FC236}">
                <a16:creationId xmlns:a16="http://schemas.microsoft.com/office/drawing/2014/main" id="{2B27B5A2-051D-E2AA-AEB2-AABC2A1C17D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1D76501-0E87-4890-DF3E-4502871BA9BA}"/>
              </a:ext>
            </a:extLst>
          </p:cNvPr>
          <p:cNvSpPr>
            <a:spLocks noGrp="1"/>
          </p:cNvSpPr>
          <p:nvPr>
            <p:ph type="sldNum" sz="quarter" idx="12"/>
          </p:nvPr>
        </p:nvSpPr>
        <p:spPr/>
        <p:txBody>
          <a:bodyPr/>
          <a:lstStyle/>
          <a:p>
            <a:fld id="{97400431-6770-4F58-B6C0-81A94E307AD7}" type="slidenum">
              <a:rPr lang="en-US" smtClean="0"/>
              <a:t>‹#›</a:t>
            </a:fld>
            <a:endParaRPr lang="en-US"/>
          </a:p>
        </p:txBody>
      </p:sp>
    </p:spTree>
    <p:extLst>
      <p:ext uri="{BB962C8B-B14F-4D97-AF65-F5344CB8AC3E}">
        <p14:creationId xmlns:p14="http://schemas.microsoft.com/office/powerpoint/2010/main" val="149638815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EC40834B-71A8-B81C-903C-30C525BE64C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5B8C491F-6926-86B9-110F-54654DA52BE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6BF3673-6192-99B7-65E6-B4C7C32C8EC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0A8F1EB-7B54-4224-9740-E381C9723DD6}" type="datetimeFigureOut">
              <a:rPr lang="en-US" smtClean="0"/>
              <a:t>10/5/2026</a:t>
            </a:fld>
            <a:endParaRPr lang="en-US"/>
          </a:p>
        </p:txBody>
      </p:sp>
      <p:sp>
        <p:nvSpPr>
          <p:cNvPr id="5" name="Footer Placeholder 4">
            <a:extLst>
              <a:ext uri="{FF2B5EF4-FFF2-40B4-BE49-F238E27FC236}">
                <a16:creationId xmlns:a16="http://schemas.microsoft.com/office/drawing/2014/main" id="{6D86ECE3-D04A-8BF5-1AFC-61CF672E44D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98833980-87C4-3CF8-7B1D-0834979D07F2}"/>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7400431-6770-4F58-B6C0-81A94E307AD7}" type="slidenum">
              <a:rPr lang="en-US" smtClean="0"/>
              <a:t>‹#›</a:t>
            </a:fld>
            <a:endParaRPr lang="en-US"/>
          </a:p>
        </p:txBody>
      </p:sp>
    </p:spTree>
    <p:extLst>
      <p:ext uri="{BB962C8B-B14F-4D97-AF65-F5344CB8AC3E}">
        <p14:creationId xmlns:p14="http://schemas.microsoft.com/office/powerpoint/2010/main" val="324664990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hyperlink" Target="https://stirlingengine.co.uk/products/KS90R-Ross-yoke-Aluminium-Stirling-Engine-p593670073" TargetMode="External"/><Relationship Id="rId2" Type="http://schemas.openxmlformats.org/officeDocument/2006/relationships/hyperlink" Target="https://www.youtube.com/watch?v=oJzy1vk2zyc&amp;list=PLxYRkul9JZoOfj6--7C8BmSLWSMhE7KK8&amp;index=25&amp;pp=gAQBiAQB" TargetMode="External"/><Relationship Id="rId1" Type="http://schemas.openxmlformats.org/officeDocument/2006/relationships/slideLayout" Target="../slideLayouts/slideLayout2.xml"/><Relationship Id="rId5" Type="http://schemas.openxmlformats.org/officeDocument/2006/relationships/image" Target="../media/image3.jpeg"/><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hyperlink" Target="https://www.woodenclocks.co.uk/clock-17/" TargetMode="External"/><Relationship Id="rId2" Type="http://schemas.openxmlformats.org/officeDocument/2006/relationships/hyperlink" Target="https://www.youtube.com/watch?v=z8V6RMJbHJc" TargetMode="External"/><Relationship Id="rId1" Type="http://schemas.openxmlformats.org/officeDocument/2006/relationships/slideLayout" Target="../slideLayouts/slideLayout2.xml"/><Relationship Id="rId4" Type="http://schemas.openxmlformats.org/officeDocument/2006/relationships/hyperlink" Target="https://www.youtube.com/watch?v=uuelh5Yt9-Q" TargetMode="Externa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hyperlink" Target="https://www.youtube.com/watch?v=z8V6RMJbHJc" TargetMode="Externa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hyperlink" Target="https://www.youtube.com/watch?v=oJzy1vk2zyc&amp;list=PLxYRkul9JZoOfj6--7C8BmSLWSMhE7KK8&amp;index=25&amp;pp=gAQBiAQB" TargetMode="Externa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14.png"/></Relationships>
</file>

<file path=ppt/slides/_rels/slide14.xml.rels><?xml version="1.0" encoding="UTF-8" standalone="yes"?>
<Relationships xmlns="http://schemas.openxmlformats.org/package/2006/relationships"><Relationship Id="rId3" Type="http://schemas.openxmlformats.org/officeDocument/2006/relationships/hyperlink" Target="https://www.jpplus.com/solid-walnut-plaque-base?sku=XP5114-EA" TargetMode="External"/><Relationship Id="rId2" Type="http://schemas.openxmlformats.org/officeDocument/2006/relationships/hyperlink" Target="https://www.youtube.com/watch?v=vFXsJNO3qsI" TargetMode="External"/><Relationship Id="rId1" Type="http://schemas.openxmlformats.org/officeDocument/2006/relationships/slideLayout" Target="../slideLayouts/slideLayout2.xml"/><Relationship Id="rId5" Type="http://schemas.openxmlformats.org/officeDocument/2006/relationships/image" Target="../media/image15.png"/><Relationship Id="rId4" Type="http://schemas.openxmlformats.org/officeDocument/2006/relationships/hyperlink" Target="https://www.jpplus.com/roman-cove-edge-plaque?sku=W791-EA" TargetMode="External"/></Relationships>
</file>

<file path=ppt/slides/_rels/slide15.xml.rels><?xml version="1.0" encoding="UTF-8" standalone="yes"?>
<Relationships xmlns="http://schemas.openxmlformats.org/package/2006/relationships"><Relationship Id="rId3" Type="http://schemas.openxmlformats.org/officeDocument/2006/relationships/hyperlink" Target="https://www.etsy.com/listing/1542504095/custom-engraved-tea-organizer?ga_order=most_relevant&amp;ga_search_type=all&amp;ga_view_type=gallery&amp;ga_search_query=tea+stand&amp;ref=sr_gallery-1-1&amp;pro=1&amp;bes=1&amp;sts=1&amp;pe=1&amp;ret=1&amp;content_source=03f29844e84a9777c16ded260883c82d3f1cf936%253A1542504095&amp;search_preloaded_img=1&amp;organic_search_click=1" TargetMode="External"/><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hyperlink" Target="https://www.amazon.com/Slotted-Weight-Set-100g-Removable/dp/B08JM71KVX" TargetMode="Externa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20.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B0589D-CCB9-904A-9616-B79CB7AFA1EA}"/>
              </a:ext>
            </a:extLst>
          </p:cNvPr>
          <p:cNvSpPr>
            <a:spLocks noGrp="1"/>
          </p:cNvSpPr>
          <p:nvPr>
            <p:ph type="title"/>
          </p:nvPr>
        </p:nvSpPr>
        <p:spPr/>
        <p:txBody>
          <a:bodyPr/>
          <a:lstStyle/>
          <a:p>
            <a:pPr algn="ctr"/>
            <a:r>
              <a:rPr lang="en-US" dirty="0"/>
              <a:t>Automatic Tea Steeper Contraption</a:t>
            </a:r>
            <a:br>
              <a:rPr lang="en-US" sz="3200" dirty="0"/>
            </a:br>
            <a:r>
              <a:rPr lang="en-US" sz="3200" dirty="0"/>
              <a:t>Design Overview</a:t>
            </a:r>
            <a:endParaRPr lang="en-US" dirty="0"/>
          </a:p>
        </p:txBody>
      </p:sp>
      <p:pic>
        <p:nvPicPr>
          <p:cNvPr id="5" name="Picture 4">
            <a:extLst>
              <a:ext uri="{FF2B5EF4-FFF2-40B4-BE49-F238E27FC236}">
                <a16:creationId xmlns:a16="http://schemas.microsoft.com/office/drawing/2014/main" id="{562A43E1-1411-7E7A-CB6A-2EB9FEA779B6}"/>
              </a:ext>
            </a:extLst>
          </p:cNvPr>
          <p:cNvPicPr>
            <a:picLocks noChangeAspect="1"/>
          </p:cNvPicPr>
          <p:nvPr/>
        </p:nvPicPr>
        <p:blipFill>
          <a:blip r:embed="rId2"/>
          <a:stretch>
            <a:fillRect/>
          </a:stretch>
        </p:blipFill>
        <p:spPr>
          <a:xfrm>
            <a:off x="3418522" y="1638300"/>
            <a:ext cx="4257675" cy="5219700"/>
          </a:xfrm>
          <a:prstGeom prst="rect">
            <a:avLst/>
          </a:prstGeom>
        </p:spPr>
      </p:pic>
      <p:sp>
        <p:nvSpPr>
          <p:cNvPr id="7" name="TextBox 6">
            <a:extLst>
              <a:ext uri="{FF2B5EF4-FFF2-40B4-BE49-F238E27FC236}">
                <a16:creationId xmlns:a16="http://schemas.microsoft.com/office/drawing/2014/main" id="{32DBB945-AEC5-DA71-2899-29AFC024D736}"/>
              </a:ext>
            </a:extLst>
          </p:cNvPr>
          <p:cNvSpPr txBox="1"/>
          <p:nvPr/>
        </p:nvSpPr>
        <p:spPr>
          <a:xfrm>
            <a:off x="10824987" y="5580298"/>
            <a:ext cx="1497874" cy="646331"/>
          </a:xfrm>
          <a:prstGeom prst="rect">
            <a:avLst/>
          </a:prstGeom>
          <a:noFill/>
        </p:spPr>
        <p:txBody>
          <a:bodyPr wrap="square" rtlCol="0">
            <a:spAutoFit/>
          </a:bodyPr>
          <a:lstStyle/>
          <a:p>
            <a:r>
              <a:rPr lang="en-US" dirty="0"/>
              <a:t>Design by Tom Dunbar</a:t>
            </a:r>
          </a:p>
        </p:txBody>
      </p:sp>
    </p:spTree>
    <p:extLst>
      <p:ext uri="{BB962C8B-B14F-4D97-AF65-F5344CB8AC3E}">
        <p14:creationId xmlns:p14="http://schemas.microsoft.com/office/powerpoint/2010/main" val="68422828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0217C45-A46A-F2CC-D305-08A822F8FAD0}"/>
              </a:ext>
            </a:extLst>
          </p:cNvPr>
          <p:cNvSpPr>
            <a:spLocks noGrp="1"/>
          </p:cNvSpPr>
          <p:nvPr>
            <p:ph idx="1"/>
          </p:nvPr>
        </p:nvSpPr>
        <p:spPr>
          <a:xfrm>
            <a:off x="838200" y="363984"/>
            <a:ext cx="7347012" cy="5812979"/>
          </a:xfrm>
        </p:spPr>
        <p:txBody>
          <a:bodyPr/>
          <a:lstStyle/>
          <a:p>
            <a:pPr marL="0" marR="0" indent="0">
              <a:lnSpc>
                <a:spcPct val="107000"/>
              </a:lnSpc>
              <a:spcBef>
                <a:spcPts val="0"/>
              </a:spcBef>
              <a:spcAft>
                <a:spcPts val="800"/>
              </a:spcAft>
              <a:buNone/>
            </a:pPr>
            <a:r>
              <a:rPr lang="en-US" sz="1800" kern="100" dirty="0">
                <a:effectLst/>
                <a:latin typeface="Calibri" panose="020F0502020204030204" pitchFamily="34" charset="0"/>
                <a:ea typeface="Calibri" panose="020F0502020204030204" pitchFamily="34" charset="0"/>
                <a:cs typeface="Times New Roman" panose="02020603050405020304" pitchFamily="18" charset="0"/>
              </a:rPr>
              <a:t>This is a design for an automatic tea steeping contraption that is gravity powered and steeps a tea bag for approximately 5 minutes.  After the steeping is complete, a bell is rung one time and the tea bag is lifted from the water. The contraption is based around a flying pendulum escapement so it contains no gears, despite it essentially being a clock.</a:t>
            </a:r>
          </a:p>
          <a:p>
            <a:pPr marL="0" marR="0" indent="0">
              <a:lnSpc>
                <a:spcPct val="107000"/>
              </a:lnSpc>
              <a:spcBef>
                <a:spcPts val="0"/>
              </a:spcBef>
              <a:spcAft>
                <a:spcPts val="800"/>
              </a:spcAft>
              <a:buNone/>
            </a:pPr>
            <a:r>
              <a:rPr lang="en-US" sz="1800" kern="100" dirty="0">
                <a:effectLst/>
                <a:latin typeface="Calibri" panose="020F0502020204030204" pitchFamily="34" charset="0"/>
                <a:ea typeface="Calibri" panose="020F0502020204030204" pitchFamily="34" charset="0"/>
                <a:cs typeface="Times New Roman" panose="02020603050405020304" pitchFamily="18" charset="0"/>
              </a:rPr>
              <a:t>The contraption was inspired by this delightfully over-engineered tea temperature monitoring mechanism: </a:t>
            </a:r>
            <a:r>
              <a:rPr lang="en-US" sz="1800" u="sng" kern="100" dirty="0">
                <a:solidFill>
                  <a:srgbClr val="0563C1"/>
                </a:solidFill>
                <a:effectLst/>
                <a:latin typeface="Calibri" panose="020F0502020204030204" pitchFamily="34" charset="0"/>
                <a:ea typeface="Calibri" panose="020F0502020204030204" pitchFamily="34" charset="0"/>
                <a:cs typeface="Times New Roman" panose="02020603050405020304" pitchFamily="18" charset="0"/>
                <a:hlinkClick r:id="rId2"/>
              </a:rPr>
              <a:t>https://www.youtube.com/watch?v=oJzy1vk2zyc&amp;list=PLxYRkul9JZoOfj6--7C8BmSLWSMhE7KK8&amp;index=25&amp;pp=gAQBiAQB</a:t>
            </a:r>
            <a:endParaRPr lang="en-US" sz="1800" u="sng" kern="100" dirty="0">
              <a:solidFill>
                <a:srgbClr val="0563C1"/>
              </a:solidFill>
              <a:effectLst/>
              <a:latin typeface="Calibri" panose="020F0502020204030204" pitchFamily="34" charset="0"/>
              <a:ea typeface="Calibri" panose="020F0502020204030204" pitchFamily="34" charset="0"/>
              <a:cs typeface="Times New Roman" panose="02020603050405020304" pitchFamily="18" charset="0"/>
            </a:endParaRPr>
          </a:p>
          <a:p>
            <a:pPr marL="0" marR="0" indent="0">
              <a:lnSpc>
                <a:spcPct val="107000"/>
              </a:lnSpc>
              <a:spcBef>
                <a:spcPts val="0"/>
              </a:spcBef>
              <a:spcAft>
                <a:spcPts val="800"/>
              </a:spcAft>
              <a:buNone/>
            </a:pPr>
            <a:endParaRPr lang="en-US"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0" indent="0">
              <a:lnSpc>
                <a:spcPct val="107000"/>
              </a:lnSpc>
              <a:spcBef>
                <a:spcPts val="0"/>
              </a:spcBef>
              <a:spcAft>
                <a:spcPts val="800"/>
              </a:spcAft>
              <a:buNone/>
            </a:pPr>
            <a:r>
              <a:rPr lang="en-US" sz="1800" kern="100" dirty="0">
                <a:latin typeface="Calibri" panose="020F0502020204030204" pitchFamily="34" charset="0"/>
                <a:cs typeface="Times New Roman" panose="02020603050405020304" pitchFamily="18" charset="0"/>
              </a:rPr>
              <a:t>From this video, I liked the notification mechanism so much, I incorporated it into my design.  I also like the aesthetic and functionality of the </a:t>
            </a:r>
            <a:r>
              <a:rPr lang="en-US" sz="1800" kern="100" dirty="0" err="1">
                <a:latin typeface="Calibri" panose="020F0502020204030204" pitchFamily="34" charset="0"/>
                <a:cs typeface="Times New Roman" panose="02020603050405020304" pitchFamily="18" charset="0"/>
              </a:rPr>
              <a:t>Kontax</a:t>
            </a:r>
            <a:r>
              <a:rPr lang="en-US" sz="1800" kern="100" dirty="0">
                <a:latin typeface="Calibri" panose="020F0502020204030204" pitchFamily="34" charset="0"/>
                <a:cs typeface="Times New Roman" panose="02020603050405020304" pitchFamily="18" charset="0"/>
              </a:rPr>
              <a:t> Stirling engine (</a:t>
            </a:r>
            <a:r>
              <a:rPr lang="en-US" sz="1800" kern="100" dirty="0">
                <a:latin typeface="Calibri" panose="020F0502020204030204" pitchFamily="34" charset="0"/>
                <a:cs typeface="Times New Roman" panose="02020603050405020304" pitchFamily="18" charset="0"/>
                <a:hlinkClick r:id="rId3"/>
              </a:rPr>
              <a:t>https://stirlingengine.co.uk/products/KS90R-Ross-yoke-Aluminium-Stirling-Engine-p593670073</a:t>
            </a:r>
            <a:r>
              <a:rPr lang="en-US" sz="1800" kern="100" dirty="0">
                <a:latin typeface="Calibri" panose="020F0502020204030204" pitchFamily="34" charset="0"/>
                <a:cs typeface="Times New Roman" panose="02020603050405020304" pitchFamily="18" charset="0"/>
              </a:rPr>
              <a:t>), so I used some parts of it in the design.  The goal is to create something that would look at home in a Victorian inventor’s parlor.  As such, I did not want to use any electronics and wanted to use a ‘natural’ energy source e.g. gravity or the heat from the hot water.</a:t>
            </a:r>
          </a:p>
          <a:p>
            <a:pPr marL="0" indent="0">
              <a:buNone/>
            </a:pPr>
            <a:endParaRPr lang="en-US" sz="1800" kern="100" dirty="0">
              <a:latin typeface="Calibri" panose="020F0502020204030204" pitchFamily="34" charset="0"/>
              <a:cs typeface="Times New Roman" panose="02020603050405020304" pitchFamily="18" charset="0"/>
            </a:endParaRPr>
          </a:p>
          <a:p>
            <a:pPr marL="0" indent="0">
              <a:buNone/>
            </a:pPr>
            <a:endParaRPr lang="en-US" dirty="0"/>
          </a:p>
        </p:txBody>
      </p:sp>
      <p:pic>
        <p:nvPicPr>
          <p:cNvPr id="4" name="Picture 3">
            <a:extLst>
              <a:ext uri="{FF2B5EF4-FFF2-40B4-BE49-F238E27FC236}">
                <a16:creationId xmlns:a16="http://schemas.microsoft.com/office/drawing/2014/main" id="{B269522E-0342-1681-BFF3-14F24C2764A8}"/>
              </a:ext>
            </a:extLst>
          </p:cNvPr>
          <p:cNvPicPr>
            <a:picLocks noChangeAspect="1"/>
          </p:cNvPicPr>
          <p:nvPr/>
        </p:nvPicPr>
        <p:blipFill>
          <a:blip r:embed="rId4"/>
          <a:stretch>
            <a:fillRect/>
          </a:stretch>
        </p:blipFill>
        <p:spPr>
          <a:xfrm>
            <a:off x="8680419" y="266700"/>
            <a:ext cx="3076575" cy="2247900"/>
          </a:xfrm>
          <a:prstGeom prst="rect">
            <a:avLst/>
          </a:prstGeom>
        </p:spPr>
      </p:pic>
      <p:pic>
        <p:nvPicPr>
          <p:cNvPr id="1026" name="Picture 2" descr="KS90 Aluminium Stirling Engine">
            <a:extLst>
              <a:ext uri="{FF2B5EF4-FFF2-40B4-BE49-F238E27FC236}">
                <a16:creationId xmlns:a16="http://schemas.microsoft.com/office/drawing/2014/main" id="{65B8B5B7-2703-2A5B-773D-A83012323DA8}"/>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325774" y="2902998"/>
            <a:ext cx="3804082" cy="380408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3688930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1907CC-6F5D-6ECD-6A2B-7FDF54F63B0A}"/>
              </a:ext>
            </a:extLst>
          </p:cNvPr>
          <p:cNvSpPr>
            <a:spLocks noGrp="1"/>
          </p:cNvSpPr>
          <p:nvPr>
            <p:ph type="title"/>
          </p:nvPr>
        </p:nvSpPr>
        <p:spPr/>
        <p:txBody>
          <a:bodyPr/>
          <a:lstStyle/>
          <a:p>
            <a:r>
              <a:rPr lang="en-US" dirty="0"/>
              <a:t>Main Mechanism Overview</a:t>
            </a:r>
          </a:p>
        </p:txBody>
      </p:sp>
      <p:sp>
        <p:nvSpPr>
          <p:cNvPr id="3" name="Content Placeholder 2">
            <a:extLst>
              <a:ext uri="{FF2B5EF4-FFF2-40B4-BE49-F238E27FC236}">
                <a16:creationId xmlns:a16="http://schemas.microsoft.com/office/drawing/2014/main" id="{CF8B95EA-D5DD-E0DB-269D-90EB373D4664}"/>
              </a:ext>
            </a:extLst>
          </p:cNvPr>
          <p:cNvSpPr>
            <a:spLocks noGrp="1"/>
          </p:cNvSpPr>
          <p:nvPr>
            <p:ph idx="1"/>
          </p:nvPr>
        </p:nvSpPr>
        <p:spPr>
          <a:xfrm>
            <a:off x="838199" y="1340528"/>
            <a:ext cx="4674833" cy="5494770"/>
          </a:xfrm>
        </p:spPr>
        <p:txBody>
          <a:bodyPr>
            <a:normAutofit fontScale="70000" lnSpcReduction="20000"/>
          </a:bodyPr>
          <a:lstStyle/>
          <a:p>
            <a:pPr marL="0" indent="0">
              <a:buNone/>
            </a:pPr>
            <a:r>
              <a:rPr lang="en-US" dirty="0"/>
              <a:t>The mechanism works by gravity pulling the weight down, pulling on the string (blue). </a:t>
            </a:r>
          </a:p>
          <a:p>
            <a:pPr marL="0" indent="0">
              <a:buNone/>
            </a:pPr>
            <a:r>
              <a:rPr lang="en-US" dirty="0"/>
              <a:t>The string is wrapped around a main vertical shaft and a drum.  The drum is on a horizontal shaft with a wheel. As the string is played out, it causes the main vertical shaft to rotate as well as the drum/wheel to rotate. </a:t>
            </a:r>
          </a:p>
          <a:p>
            <a:pPr marL="0" indent="0">
              <a:buNone/>
            </a:pPr>
            <a:r>
              <a:rPr lang="en-US" dirty="0"/>
              <a:t>The main shaft has a flying pendulum escapement to slow the weight’s decent.</a:t>
            </a:r>
          </a:p>
          <a:p>
            <a:pPr marL="0" indent="0">
              <a:buNone/>
            </a:pPr>
            <a:r>
              <a:rPr lang="en-US" dirty="0"/>
              <a:t>A tea bag’s string is attached to a peg on the wheel and a mug of hot water is positioned below the wheel.  As the wheel rotates, it slowly steeps the tea bag up and down.</a:t>
            </a:r>
          </a:p>
          <a:p>
            <a:pPr marL="0" indent="0">
              <a:buNone/>
            </a:pPr>
            <a:r>
              <a:rPr lang="en-US" dirty="0"/>
              <a:t>As discussed later, after 5 minutes there is a steeping complete notification that rings a bell one time to alert the tea drinker that the tea is ready, similar to the notification in the inspiration video. The mechanism also lifts the tea bag out of the water.</a:t>
            </a:r>
          </a:p>
          <a:p>
            <a:pPr marL="0" indent="0">
              <a:buNone/>
            </a:pPr>
            <a:endParaRPr lang="en-US" dirty="0"/>
          </a:p>
          <a:p>
            <a:pPr marL="0" indent="0">
              <a:buNone/>
            </a:pPr>
            <a:endParaRPr lang="en-US" dirty="0"/>
          </a:p>
          <a:p>
            <a:endParaRPr lang="en-US" dirty="0"/>
          </a:p>
        </p:txBody>
      </p:sp>
      <p:pic>
        <p:nvPicPr>
          <p:cNvPr id="5" name="Picture 4">
            <a:extLst>
              <a:ext uri="{FF2B5EF4-FFF2-40B4-BE49-F238E27FC236}">
                <a16:creationId xmlns:a16="http://schemas.microsoft.com/office/drawing/2014/main" id="{D8C1891B-5263-6965-2685-F3398EBAB048}"/>
              </a:ext>
            </a:extLst>
          </p:cNvPr>
          <p:cNvPicPr>
            <a:picLocks noChangeAspect="1"/>
          </p:cNvPicPr>
          <p:nvPr/>
        </p:nvPicPr>
        <p:blipFill rotWithShape="1">
          <a:blip r:embed="rId2">
            <a:extLst>
              <a:ext uri="{28A0092B-C50C-407E-A947-70E740481C1C}">
                <a14:useLocalDpi xmlns:a14="http://schemas.microsoft.com/office/drawing/2010/main" val="0"/>
              </a:ext>
            </a:extLst>
          </a:blip>
          <a:srcRect b="7184"/>
          <a:stretch/>
        </p:blipFill>
        <p:spPr>
          <a:xfrm>
            <a:off x="7433570" y="38479"/>
            <a:ext cx="3583617" cy="6796819"/>
          </a:xfrm>
          <a:prstGeom prst="rect">
            <a:avLst/>
          </a:prstGeom>
        </p:spPr>
      </p:pic>
    </p:spTree>
    <p:extLst>
      <p:ext uri="{BB962C8B-B14F-4D97-AF65-F5344CB8AC3E}">
        <p14:creationId xmlns:p14="http://schemas.microsoft.com/office/powerpoint/2010/main" val="233146634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51012E-71AB-6485-6AF4-901F9D900995}"/>
              </a:ext>
            </a:extLst>
          </p:cNvPr>
          <p:cNvSpPr>
            <a:spLocks noGrp="1"/>
          </p:cNvSpPr>
          <p:nvPr>
            <p:ph type="title"/>
          </p:nvPr>
        </p:nvSpPr>
        <p:spPr/>
        <p:txBody>
          <a:bodyPr/>
          <a:lstStyle/>
          <a:p>
            <a:r>
              <a:rPr lang="en-US" dirty="0"/>
              <a:t>Flying Pendulum Escapement</a:t>
            </a:r>
          </a:p>
        </p:txBody>
      </p:sp>
      <p:sp>
        <p:nvSpPr>
          <p:cNvPr id="3" name="Content Placeholder 2">
            <a:extLst>
              <a:ext uri="{FF2B5EF4-FFF2-40B4-BE49-F238E27FC236}">
                <a16:creationId xmlns:a16="http://schemas.microsoft.com/office/drawing/2014/main" id="{5AE55ECC-4D44-0300-E13D-EE643B2F1D21}"/>
              </a:ext>
            </a:extLst>
          </p:cNvPr>
          <p:cNvSpPr>
            <a:spLocks noGrp="1"/>
          </p:cNvSpPr>
          <p:nvPr>
            <p:ph idx="1"/>
          </p:nvPr>
        </p:nvSpPr>
        <p:spPr/>
        <p:txBody>
          <a:bodyPr/>
          <a:lstStyle/>
          <a:p>
            <a:pPr marL="0" marR="0">
              <a:lnSpc>
                <a:spcPct val="107000"/>
              </a:lnSpc>
              <a:spcBef>
                <a:spcPts val="0"/>
              </a:spcBef>
              <a:spcAft>
                <a:spcPts val="800"/>
              </a:spcAft>
            </a:pPr>
            <a:r>
              <a:rPr lang="en-US" sz="1800" kern="100" dirty="0">
                <a:effectLst/>
                <a:latin typeface="Calibri" panose="020F0502020204030204" pitchFamily="34" charset="0"/>
                <a:ea typeface="Calibri" panose="020F0502020204030204" pitchFamily="34" charset="0"/>
                <a:cs typeface="Times New Roman" panose="02020603050405020304" pitchFamily="18" charset="0"/>
              </a:rPr>
              <a:t>The link below is a good introduction to a flying pendulum and discusses some of the critical dimensions:</a:t>
            </a:r>
          </a:p>
          <a:p>
            <a:pPr marL="0" marR="0">
              <a:lnSpc>
                <a:spcPct val="107000"/>
              </a:lnSpc>
              <a:spcBef>
                <a:spcPts val="0"/>
              </a:spcBef>
              <a:spcAft>
                <a:spcPts val="800"/>
              </a:spcAft>
            </a:pPr>
            <a:r>
              <a:rPr lang="en-US" sz="1800" u="sng" kern="100" dirty="0">
                <a:solidFill>
                  <a:srgbClr val="0563C1"/>
                </a:solidFill>
                <a:effectLst/>
                <a:latin typeface="Calibri" panose="020F0502020204030204" pitchFamily="34" charset="0"/>
                <a:ea typeface="Calibri" panose="020F0502020204030204" pitchFamily="34" charset="0"/>
                <a:cs typeface="Times New Roman" panose="02020603050405020304" pitchFamily="18" charset="0"/>
                <a:hlinkClick r:id="rId2"/>
              </a:rPr>
              <a:t>https://www.youtube.com/watch?v=z8V6RMJbHJc</a:t>
            </a:r>
            <a:endParaRPr lang="en-US"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800"/>
              </a:spcAft>
            </a:pPr>
            <a:endParaRPr lang="en-US"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800"/>
              </a:spcAft>
            </a:pPr>
            <a:r>
              <a:rPr lang="en-US" sz="1800" kern="100" dirty="0">
                <a:effectLst/>
                <a:latin typeface="Calibri" panose="020F0502020204030204" pitchFamily="34" charset="0"/>
                <a:ea typeface="Calibri" panose="020F0502020204030204" pitchFamily="34" charset="0"/>
                <a:cs typeface="Times New Roman" panose="02020603050405020304" pitchFamily="18" charset="0"/>
              </a:rPr>
              <a:t>The link below provides some good technical drawings of the escapement and some of the dimensions are visible in the PDF that you can view online.  I used some of these dimensions when designing the device.</a:t>
            </a:r>
          </a:p>
          <a:p>
            <a:pPr marL="0" marR="0">
              <a:lnSpc>
                <a:spcPct val="107000"/>
              </a:lnSpc>
              <a:spcBef>
                <a:spcPts val="0"/>
              </a:spcBef>
              <a:spcAft>
                <a:spcPts val="800"/>
              </a:spcAft>
            </a:pPr>
            <a:r>
              <a:rPr lang="en-US" sz="1800" u="sng" kern="100" dirty="0">
                <a:solidFill>
                  <a:srgbClr val="0563C1"/>
                </a:solidFill>
                <a:effectLst/>
                <a:latin typeface="Calibri" panose="020F0502020204030204" pitchFamily="34" charset="0"/>
                <a:ea typeface="Calibri" panose="020F0502020204030204" pitchFamily="34" charset="0"/>
                <a:cs typeface="Times New Roman" panose="02020603050405020304" pitchFamily="18" charset="0"/>
                <a:hlinkClick r:id="rId3"/>
              </a:rPr>
              <a:t>https://www.woodenclocks.co.uk/clock-17/</a:t>
            </a:r>
            <a:endParaRPr lang="en-US" sz="1800" u="sng" kern="100" dirty="0">
              <a:solidFill>
                <a:srgbClr val="0563C1"/>
              </a:solidFill>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800"/>
              </a:spcAft>
            </a:pPr>
            <a:endParaRPr lang="en-US" sz="1800" u="sng" kern="100" dirty="0">
              <a:solidFill>
                <a:srgbClr val="0563C1"/>
              </a:solidFill>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800"/>
              </a:spcAft>
            </a:pPr>
            <a:r>
              <a:rPr lang="en-US" sz="1800" kern="100" dirty="0">
                <a:effectLst/>
                <a:latin typeface="Calibri" panose="020F0502020204030204" pitchFamily="34" charset="0"/>
                <a:ea typeface="Calibri" panose="020F0502020204030204" pitchFamily="34" charset="0"/>
                <a:cs typeface="Times New Roman" panose="02020603050405020304" pitchFamily="18" charset="0"/>
              </a:rPr>
              <a:t>The following video is a bit long, but provided the original a-</a:t>
            </a:r>
            <a:r>
              <a:rPr lang="en-US" sz="1800" kern="100" dirty="0">
                <a:latin typeface="Calibri" panose="020F0502020204030204" pitchFamily="34" charset="0"/>
                <a:ea typeface="Calibri" panose="020F0502020204030204" pitchFamily="34" charset="0"/>
                <a:cs typeface="Times New Roman" panose="02020603050405020304" pitchFamily="18" charset="0"/>
              </a:rPr>
              <a:t>ha moment for </a:t>
            </a:r>
            <a:r>
              <a:rPr lang="en-US" sz="1800" kern="100" dirty="0">
                <a:effectLst/>
                <a:latin typeface="Calibri" panose="020F0502020204030204" pitchFamily="34" charset="0"/>
                <a:ea typeface="Calibri" panose="020F0502020204030204" pitchFamily="34" charset="0"/>
                <a:cs typeface="Times New Roman" panose="02020603050405020304" pitchFamily="18" charset="0"/>
              </a:rPr>
              <a:t>how to actually accomplish the auto-steeping mechanism. The main mechanism is essentially a re-arrangement of his contraption:</a:t>
            </a:r>
          </a:p>
          <a:p>
            <a:pPr marL="0" marR="0">
              <a:lnSpc>
                <a:spcPct val="107000"/>
              </a:lnSpc>
              <a:spcBef>
                <a:spcPts val="0"/>
              </a:spcBef>
              <a:spcAft>
                <a:spcPts val="800"/>
              </a:spcAft>
            </a:pPr>
            <a:r>
              <a:rPr lang="en-US" sz="1800" u="sng" kern="100" dirty="0">
                <a:solidFill>
                  <a:srgbClr val="0563C1"/>
                </a:solidFill>
                <a:effectLst/>
                <a:latin typeface="Calibri" panose="020F0502020204030204" pitchFamily="34" charset="0"/>
                <a:ea typeface="Calibri" panose="020F0502020204030204" pitchFamily="34" charset="0"/>
                <a:cs typeface="Times New Roman" panose="02020603050405020304" pitchFamily="18" charset="0"/>
                <a:hlinkClick r:id="rId4"/>
              </a:rPr>
              <a:t>https://www.youtube.com/watch?v=uuelh5Yt9-Q</a:t>
            </a:r>
            <a:endParaRPr lang="en-US"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800"/>
              </a:spcAft>
            </a:pPr>
            <a:endParaRPr lang="en-US" sz="1800" kern="100" dirty="0">
              <a:effectLst/>
              <a:latin typeface="Calibri" panose="020F0502020204030204" pitchFamily="34" charset="0"/>
              <a:ea typeface="Calibri" panose="020F0502020204030204" pitchFamily="34" charset="0"/>
              <a:cs typeface="Times New Roman" panose="02020603050405020304" pitchFamily="18" charset="0"/>
            </a:endParaRPr>
          </a:p>
          <a:p>
            <a:endParaRPr lang="en-US" dirty="0"/>
          </a:p>
        </p:txBody>
      </p:sp>
    </p:spTree>
    <p:extLst>
      <p:ext uri="{BB962C8B-B14F-4D97-AF65-F5344CB8AC3E}">
        <p14:creationId xmlns:p14="http://schemas.microsoft.com/office/powerpoint/2010/main" val="382126798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F0815F-D512-7F58-BAE1-61CEE727A217}"/>
              </a:ext>
            </a:extLst>
          </p:cNvPr>
          <p:cNvSpPr>
            <a:spLocks noGrp="1"/>
          </p:cNvSpPr>
          <p:nvPr>
            <p:ph type="title"/>
          </p:nvPr>
        </p:nvSpPr>
        <p:spPr/>
        <p:txBody>
          <a:bodyPr/>
          <a:lstStyle/>
          <a:p>
            <a:r>
              <a:rPr lang="en-US" b="0" dirty="0">
                <a:effectLst/>
              </a:rPr>
              <a:t>Sub Assembles</a:t>
            </a:r>
            <a:endParaRPr lang="en-US" dirty="0"/>
          </a:p>
        </p:txBody>
      </p:sp>
      <p:sp>
        <p:nvSpPr>
          <p:cNvPr id="3" name="Content Placeholder 2">
            <a:extLst>
              <a:ext uri="{FF2B5EF4-FFF2-40B4-BE49-F238E27FC236}">
                <a16:creationId xmlns:a16="http://schemas.microsoft.com/office/drawing/2014/main" id="{F5DF086E-B010-5F27-246A-C841F3952278}"/>
              </a:ext>
            </a:extLst>
          </p:cNvPr>
          <p:cNvSpPr>
            <a:spLocks noGrp="1"/>
          </p:cNvSpPr>
          <p:nvPr>
            <p:ph idx="1"/>
          </p:nvPr>
        </p:nvSpPr>
        <p:spPr/>
        <p:txBody>
          <a:bodyPr/>
          <a:lstStyle/>
          <a:p>
            <a:pPr>
              <a:buFont typeface="Arial" panose="020B0604020202020204" pitchFamily="34" charset="0"/>
              <a:buChar char="•"/>
            </a:pPr>
            <a:r>
              <a:rPr lang="en-US" dirty="0"/>
              <a:t>Main pillar and Support</a:t>
            </a:r>
          </a:p>
          <a:p>
            <a:pPr>
              <a:buFont typeface="Arial" panose="020B0604020202020204" pitchFamily="34" charset="0"/>
              <a:buChar char="•"/>
            </a:pPr>
            <a:r>
              <a:rPr lang="en-US" dirty="0"/>
              <a:t>Upper static arms </a:t>
            </a:r>
          </a:p>
          <a:p>
            <a:pPr>
              <a:buFont typeface="Arial" panose="020B0604020202020204" pitchFamily="34" charset="0"/>
              <a:buChar char="•"/>
            </a:pPr>
            <a:r>
              <a:rPr lang="en-US" dirty="0"/>
              <a:t>Lower static arms</a:t>
            </a:r>
          </a:p>
          <a:p>
            <a:pPr>
              <a:buFont typeface="Arial" panose="020B0604020202020204" pitchFamily="34" charset="0"/>
              <a:buChar char="•"/>
            </a:pPr>
            <a:r>
              <a:rPr lang="en-US" dirty="0"/>
              <a:t>Rotating assembly</a:t>
            </a:r>
          </a:p>
          <a:p>
            <a:pPr>
              <a:buFont typeface="Arial" panose="020B0604020202020204" pitchFamily="34" charset="0"/>
              <a:buChar char="•"/>
            </a:pPr>
            <a:r>
              <a:rPr lang="en-US" dirty="0"/>
              <a:t>Wheel &amp; Drum </a:t>
            </a:r>
          </a:p>
          <a:p>
            <a:pPr>
              <a:buFont typeface="Arial" panose="020B0604020202020204" pitchFamily="34" charset="0"/>
              <a:buChar char="•"/>
            </a:pPr>
            <a:r>
              <a:rPr lang="en-US" dirty="0"/>
              <a:t>Steeping complete notification contraption </a:t>
            </a:r>
          </a:p>
          <a:p>
            <a:pPr>
              <a:buFont typeface="Arial" panose="020B0604020202020204" pitchFamily="34" charset="0"/>
              <a:buChar char="•"/>
            </a:pPr>
            <a:r>
              <a:rPr lang="en-US" dirty="0"/>
              <a:t>Wooden Base </a:t>
            </a:r>
          </a:p>
        </p:txBody>
      </p:sp>
    </p:spTree>
    <p:extLst>
      <p:ext uri="{BB962C8B-B14F-4D97-AF65-F5344CB8AC3E}">
        <p14:creationId xmlns:p14="http://schemas.microsoft.com/office/powerpoint/2010/main" val="23699577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397DDA65-D372-538E-CBFE-A594E0C17023}"/>
              </a:ext>
            </a:extLst>
          </p:cNvPr>
          <p:cNvSpPr txBox="1"/>
          <p:nvPr/>
        </p:nvSpPr>
        <p:spPr>
          <a:xfrm>
            <a:off x="656948" y="1091953"/>
            <a:ext cx="3151572" cy="2585323"/>
          </a:xfrm>
          <a:prstGeom prst="rect">
            <a:avLst/>
          </a:prstGeom>
          <a:noFill/>
        </p:spPr>
        <p:txBody>
          <a:bodyPr wrap="square" rtlCol="0">
            <a:spAutoFit/>
          </a:bodyPr>
          <a:lstStyle/>
          <a:p>
            <a:r>
              <a:rPr lang="en-US" dirty="0"/>
              <a:t>A slight offset (~10 degrees) between the upper and lower arms allows the string the disengage cleanly and helps it engage on the upper arm first when it swings around.  </a:t>
            </a:r>
          </a:p>
          <a:p>
            <a:endParaRPr lang="en-US" dirty="0"/>
          </a:p>
          <a:p>
            <a:r>
              <a:rPr lang="en-US" dirty="0"/>
              <a:t>In this view, the pendulum is rotating counter-clockwise.</a:t>
            </a:r>
          </a:p>
        </p:txBody>
      </p:sp>
      <p:pic>
        <p:nvPicPr>
          <p:cNvPr id="7" name="Picture 6">
            <a:extLst>
              <a:ext uri="{FF2B5EF4-FFF2-40B4-BE49-F238E27FC236}">
                <a16:creationId xmlns:a16="http://schemas.microsoft.com/office/drawing/2014/main" id="{EBFEDA13-48C5-1C86-8371-BE4E4F45F35F}"/>
              </a:ext>
            </a:extLst>
          </p:cNvPr>
          <p:cNvPicPr>
            <a:picLocks noChangeAspect="1"/>
          </p:cNvPicPr>
          <p:nvPr/>
        </p:nvPicPr>
        <p:blipFill>
          <a:blip r:embed="rId2"/>
          <a:stretch>
            <a:fillRect/>
          </a:stretch>
        </p:blipFill>
        <p:spPr>
          <a:xfrm>
            <a:off x="6454296" y="1086476"/>
            <a:ext cx="3171825" cy="2590800"/>
          </a:xfrm>
          <a:prstGeom prst="rect">
            <a:avLst/>
          </a:prstGeom>
        </p:spPr>
      </p:pic>
    </p:spTree>
    <p:extLst>
      <p:ext uri="{BB962C8B-B14F-4D97-AF65-F5344CB8AC3E}">
        <p14:creationId xmlns:p14="http://schemas.microsoft.com/office/powerpoint/2010/main" val="341143277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F2AD0A-DBD7-389F-09DA-8B36FEC0987F}"/>
              </a:ext>
            </a:extLst>
          </p:cNvPr>
          <p:cNvSpPr>
            <a:spLocks noGrp="1"/>
          </p:cNvSpPr>
          <p:nvPr>
            <p:ph type="title"/>
          </p:nvPr>
        </p:nvSpPr>
        <p:spPr/>
        <p:txBody>
          <a:bodyPr/>
          <a:lstStyle/>
          <a:p>
            <a:r>
              <a:rPr lang="en-US" dirty="0"/>
              <a:t>Resetting the device</a:t>
            </a:r>
          </a:p>
        </p:txBody>
      </p:sp>
      <p:sp>
        <p:nvSpPr>
          <p:cNvPr id="3" name="Content Placeholder 2">
            <a:extLst>
              <a:ext uri="{FF2B5EF4-FFF2-40B4-BE49-F238E27FC236}">
                <a16:creationId xmlns:a16="http://schemas.microsoft.com/office/drawing/2014/main" id="{3C168340-7D0C-8E05-11AB-9474BA9422A0}"/>
              </a:ext>
            </a:extLst>
          </p:cNvPr>
          <p:cNvSpPr>
            <a:spLocks noGrp="1"/>
          </p:cNvSpPr>
          <p:nvPr>
            <p:ph idx="1"/>
          </p:nvPr>
        </p:nvSpPr>
        <p:spPr>
          <a:xfrm>
            <a:off x="252273" y="1690688"/>
            <a:ext cx="5456068" cy="4351338"/>
          </a:xfrm>
        </p:spPr>
        <p:txBody>
          <a:bodyPr>
            <a:normAutofit fontScale="70000" lnSpcReduction="20000"/>
          </a:bodyPr>
          <a:lstStyle/>
          <a:p>
            <a:pPr marL="0" indent="0">
              <a:buNone/>
            </a:pPr>
            <a:r>
              <a:rPr lang="en-US" dirty="0"/>
              <a:t>To reset the device, the flying pendulum bob is placed onto the wire hook that is on the pendulum arm.  This allows the user to spin the crank without the pendulum bob wrapping around the static arms.  This will wind up the string and prepare the weight for its next decent.</a:t>
            </a:r>
          </a:p>
          <a:p>
            <a:pPr marL="0" indent="0">
              <a:buNone/>
            </a:pPr>
            <a:r>
              <a:rPr lang="en-US" dirty="0"/>
              <a:t>The pendulum bob is then looped over the upper static arm support beam to prevent the pendulum arm from moving (as seen in this video: </a:t>
            </a:r>
            <a:r>
              <a:rPr lang="en-US" sz="2800" u="sng" kern="100" dirty="0">
                <a:solidFill>
                  <a:srgbClr val="0563C1"/>
                </a:solidFill>
                <a:effectLst/>
                <a:latin typeface="Calibri" panose="020F0502020204030204" pitchFamily="34" charset="0"/>
                <a:ea typeface="Calibri" panose="020F0502020204030204" pitchFamily="34" charset="0"/>
                <a:cs typeface="Times New Roman" panose="02020603050405020304" pitchFamily="18" charset="0"/>
                <a:hlinkClick r:id="rId2"/>
              </a:rPr>
              <a:t>https://www.youtube.com/watch?v=z8V6RMJbHJc</a:t>
            </a:r>
            <a:r>
              <a:rPr lang="en-US" sz="2800" u="sng" kern="100" dirty="0">
                <a:solidFill>
                  <a:srgbClr val="0563C1"/>
                </a:solidFill>
                <a:effectLst/>
                <a:latin typeface="Calibri" panose="020F0502020204030204" pitchFamily="34" charset="0"/>
                <a:ea typeface="Calibri" panose="020F0502020204030204" pitchFamily="34" charset="0"/>
                <a:cs typeface="Times New Roman" panose="02020603050405020304" pitchFamily="18" charset="0"/>
              </a:rPr>
              <a:t>) </a:t>
            </a:r>
          </a:p>
          <a:p>
            <a:pPr marL="0" indent="0">
              <a:buNone/>
            </a:pPr>
            <a:r>
              <a:rPr lang="en-US" sz="2800" kern="100" dirty="0">
                <a:effectLst/>
                <a:latin typeface="Calibri" panose="020F0502020204030204" pitchFamily="34" charset="0"/>
                <a:ea typeface="Calibri" panose="020F0502020204030204" pitchFamily="34" charset="0"/>
                <a:cs typeface="Times New Roman" panose="02020603050405020304" pitchFamily="18" charset="0"/>
              </a:rPr>
              <a:t>When the pendulum is prevented from </a:t>
            </a:r>
            <a:r>
              <a:rPr lang="en-US" kern="100" dirty="0">
                <a:latin typeface="Calibri" panose="020F0502020204030204" pitchFamily="34" charset="0"/>
                <a:ea typeface="Calibri" panose="020F0502020204030204" pitchFamily="34" charset="0"/>
                <a:cs typeface="Times New Roman" panose="02020603050405020304" pitchFamily="18" charset="0"/>
              </a:rPr>
              <a:t>moving, t</a:t>
            </a:r>
            <a:r>
              <a:rPr lang="en-US" sz="2800" kern="100" dirty="0">
                <a:effectLst/>
                <a:latin typeface="Calibri" panose="020F0502020204030204" pitchFamily="34" charset="0"/>
                <a:ea typeface="Calibri" panose="020F0502020204030204" pitchFamily="34" charset="0"/>
                <a:cs typeface="Times New Roman" panose="02020603050405020304" pitchFamily="18" charset="0"/>
              </a:rPr>
              <a:t>he user can attach a tea bag’s string to the peg on the wheel and prepare a mug of hot water. </a:t>
            </a:r>
          </a:p>
          <a:p>
            <a:pPr marL="0" indent="0">
              <a:buNone/>
            </a:pPr>
            <a:r>
              <a:rPr lang="en-US" sz="2800" kern="100" dirty="0">
                <a:effectLst/>
                <a:latin typeface="Calibri" panose="020F0502020204030204" pitchFamily="34" charset="0"/>
                <a:ea typeface="Calibri" panose="020F0502020204030204" pitchFamily="34" charset="0"/>
                <a:cs typeface="Times New Roman" panose="02020603050405020304" pitchFamily="18" charset="0"/>
              </a:rPr>
              <a:t>Un-looping the pendulum bob and letting go is all that is needed to start the main mechanism.</a:t>
            </a:r>
          </a:p>
          <a:p>
            <a:pPr marL="0" indent="0">
              <a:buNone/>
            </a:pPr>
            <a:r>
              <a:rPr lang="en-US" dirty="0"/>
              <a:t> </a:t>
            </a:r>
          </a:p>
        </p:txBody>
      </p:sp>
      <p:pic>
        <p:nvPicPr>
          <p:cNvPr id="5" name="Picture 4">
            <a:extLst>
              <a:ext uri="{FF2B5EF4-FFF2-40B4-BE49-F238E27FC236}">
                <a16:creationId xmlns:a16="http://schemas.microsoft.com/office/drawing/2014/main" id="{C798E40C-CDD8-1F92-85CE-8D5B804FDDC1}"/>
              </a:ext>
            </a:extLst>
          </p:cNvPr>
          <p:cNvPicPr>
            <a:picLocks noChangeAspect="1"/>
          </p:cNvPicPr>
          <p:nvPr/>
        </p:nvPicPr>
        <p:blipFill rotWithShape="1">
          <a:blip r:embed="rId3">
            <a:extLst>
              <a:ext uri="{28A0092B-C50C-407E-A947-70E740481C1C}">
                <a14:useLocalDpi xmlns:a14="http://schemas.microsoft.com/office/drawing/2010/main" val="0"/>
              </a:ext>
            </a:extLst>
          </a:blip>
          <a:srcRect t="16311" b="35405"/>
          <a:stretch/>
        </p:blipFill>
        <p:spPr>
          <a:xfrm>
            <a:off x="6745213" y="1864311"/>
            <a:ext cx="4431032" cy="3311371"/>
          </a:xfrm>
          <a:prstGeom prst="rect">
            <a:avLst/>
          </a:prstGeom>
        </p:spPr>
      </p:pic>
    </p:spTree>
    <p:extLst>
      <p:ext uri="{BB962C8B-B14F-4D97-AF65-F5344CB8AC3E}">
        <p14:creationId xmlns:p14="http://schemas.microsoft.com/office/powerpoint/2010/main" val="82147743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C70FE991-4D4D-71A2-5ED9-C5CCD304827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524250" y="0"/>
            <a:ext cx="5143500" cy="6858000"/>
          </a:xfrm>
          <a:prstGeom prst="rect">
            <a:avLst/>
          </a:prstGeom>
        </p:spPr>
      </p:pic>
    </p:spTree>
    <p:extLst>
      <p:ext uri="{BB962C8B-B14F-4D97-AF65-F5344CB8AC3E}">
        <p14:creationId xmlns:p14="http://schemas.microsoft.com/office/powerpoint/2010/main" val="169827035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FE8F0A0F-46A9-1DA5-01F0-DCF7372C3E67}"/>
              </a:ext>
            </a:extLst>
          </p:cNvPr>
          <p:cNvPicPr>
            <a:picLocks noChangeAspect="1"/>
          </p:cNvPicPr>
          <p:nvPr/>
        </p:nvPicPr>
        <p:blipFill>
          <a:blip r:embed="rId2"/>
          <a:stretch>
            <a:fillRect/>
          </a:stretch>
        </p:blipFill>
        <p:spPr>
          <a:xfrm>
            <a:off x="5513773" y="3199264"/>
            <a:ext cx="5638800" cy="3238500"/>
          </a:xfrm>
          <a:prstGeom prst="rect">
            <a:avLst/>
          </a:prstGeom>
        </p:spPr>
      </p:pic>
      <p:sp>
        <p:nvSpPr>
          <p:cNvPr id="2" name="Title 1">
            <a:extLst>
              <a:ext uri="{FF2B5EF4-FFF2-40B4-BE49-F238E27FC236}">
                <a16:creationId xmlns:a16="http://schemas.microsoft.com/office/drawing/2014/main" id="{C1049E7D-2F21-3036-15B5-591A68C059EC}"/>
              </a:ext>
            </a:extLst>
          </p:cNvPr>
          <p:cNvSpPr>
            <a:spLocks noGrp="1"/>
          </p:cNvSpPr>
          <p:nvPr>
            <p:ph type="title"/>
          </p:nvPr>
        </p:nvSpPr>
        <p:spPr/>
        <p:txBody>
          <a:bodyPr/>
          <a:lstStyle/>
          <a:p>
            <a:r>
              <a:rPr lang="en-US" dirty="0"/>
              <a:t>Wheel and drum</a:t>
            </a:r>
          </a:p>
        </p:txBody>
      </p:sp>
      <p:pic>
        <p:nvPicPr>
          <p:cNvPr id="1026" name="Picture 2" descr="KS90 Flywheel">
            <a:extLst>
              <a:ext uri="{FF2B5EF4-FFF2-40B4-BE49-F238E27FC236}">
                <a16:creationId xmlns:a16="http://schemas.microsoft.com/office/drawing/2014/main" id="{C03DF8DB-B3BD-5DE8-413F-98C1627532B0}"/>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30797" r="25698" b="28274"/>
          <a:stretch/>
        </p:blipFill>
        <p:spPr bwMode="auto">
          <a:xfrm>
            <a:off x="1204913" y="2096574"/>
            <a:ext cx="3184771" cy="1754327"/>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6221A3C1-D125-8A8B-EE07-1D87E8FBA1A9}"/>
              </a:ext>
            </a:extLst>
          </p:cNvPr>
          <p:cNvSpPr txBox="1"/>
          <p:nvPr/>
        </p:nvSpPr>
        <p:spPr>
          <a:xfrm>
            <a:off x="363984" y="1547882"/>
            <a:ext cx="5459767" cy="1200329"/>
          </a:xfrm>
          <a:prstGeom prst="rect">
            <a:avLst/>
          </a:prstGeom>
          <a:noFill/>
        </p:spPr>
        <p:txBody>
          <a:bodyPr wrap="square" rtlCol="0">
            <a:spAutoFit/>
          </a:bodyPr>
          <a:lstStyle/>
          <a:p>
            <a:r>
              <a:rPr lang="en-US" dirty="0"/>
              <a:t>Wheel is inspired by the </a:t>
            </a:r>
            <a:r>
              <a:rPr lang="en-US" dirty="0" err="1"/>
              <a:t>Kontax</a:t>
            </a:r>
            <a:r>
              <a:rPr lang="en-US" dirty="0"/>
              <a:t> Stirling Engine wheel</a:t>
            </a:r>
          </a:p>
          <a:p>
            <a:endParaRPr lang="en-US" dirty="0"/>
          </a:p>
          <a:p>
            <a:endParaRPr lang="en-US" dirty="0"/>
          </a:p>
          <a:p>
            <a:endParaRPr lang="en-US" dirty="0"/>
          </a:p>
        </p:txBody>
      </p:sp>
      <p:sp>
        <p:nvSpPr>
          <p:cNvPr id="9" name="TextBox 8">
            <a:extLst>
              <a:ext uri="{FF2B5EF4-FFF2-40B4-BE49-F238E27FC236}">
                <a16:creationId xmlns:a16="http://schemas.microsoft.com/office/drawing/2014/main" id="{FA7742D8-6D3D-BB44-FEAE-83B3CCFC7C24}"/>
              </a:ext>
            </a:extLst>
          </p:cNvPr>
          <p:cNvSpPr txBox="1"/>
          <p:nvPr/>
        </p:nvSpPr>
        <p:spPr>
          <a:xfrm>
            <a:off x="8033552" y="3597194"/>
            <a:ext cx="3435658" cy="646331"/>
          </a:xfrm>
          <a:prstGeom prst="rect">
            <a:avLst/>
          </a:prstGeom>
          <a:noFill/>
        </p:spPr>
        <p:txBody>
          <a:bodyPr wrap="square" rtlCol="0">
            <a:spAutoFit/>
          </a:bodyPr>
          <a:lstStyle/>
          <a:p>
            <a:r>
              <a:rPr lang="en-US" dirty="0"/>
              <a:t>The tea bag’s string is held by the slot on the peg</a:t>
            </a:r>
          </a:p>
        </p:txBody>
      </p:sp>
    </p:spTree>
    <p:extLst>
      <p:ext uri="{BB962C8B-B14F-4D97-AF65-F5344CB8AC3E}">
        <p14:creationId xmlns:p14="http://schemas.microsoft.com/office/powerpoint/2010/main" val="391934920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021567-5E9A-3F19-0AB2-1ECE752196CD}"/>
              </a:ext>
            </a:extLst>
          </p:cNvPr>
          <p:cNvSpPr>
            <a:spLocks noGrp="1"/>
          </p:cNvSpPr>
          <p:nvPr>
            <p:ph type="title"/>
          </p:nvPr>
        </p:nvSpPr>
        <p:spPr>
          <a:xfrm>
            <a:off x="347154" y="0"/>
            <a:ext cx="5748846" cy="1325563"/>
          </a:xfrm>
        </p:spPr>
        <p:txBody>
          <a:bodyPr/>
          <a:lstStyle/>
          <a:p>
            <a:r>
              <a:rPr lang="en-US" dirty="0"/>
              <a:t>Steeping Complete Notification Contraption</a:t>
            </a:r>
          </a:p>
        </p:txBody>
      </p:sp>
      <p:sp>
        <p:nvSpPr>
          <p:cNvPr id="3" name="Content Placeholder 2">
            <a:extLst>
              <a:ext uri="{FF2B5EF4-FFF2-40B4-BE49-F238E27FC236}">
                <a16:creationId xmlns:a16="http://schemas.microsoft.com/office/drawing/2014/main" id="{97B765E2-8863-8124-4578-D8A50252FB99}"/>
              </a:ext>
            </a:extLst>
          </p:cNvPr>
          <p:cNvSpPr>
            <a:spLocks noGrp="1"/>
          </p:cNvSpPr>
          <p:nvPr>
            <p:ph idx="1"/>
          </p:nvPr>
        </p:nvSpPr>
        <p:spPr>
          <a:xfrm>
            <a:off x="177554" y="1690688"/>
            <a:ext cx="6143348" cy="5167311"/>
          </a:xfrm>
        </p:spPr>
        <p:txBody>
          <a:bodyPr>
            <a:normAutofit fontScale="70000" lnSpcReduction="20000"/>
          </a:bodyPr>
          <a:lstStyle/>
          <a:p>
            <a:r>
              <a:rPr lang="en-US" dirty="0"/>
              <a:t>This contraption is designed to strike a bell one time when steeping is complete, after approximately 5 minutes. </a:t>
            </a:r>
          </a:p>
          <a:p>
            <a:r>
              <a:rPr lang="en-US" dirty="0"/>
              <a:t>The weight descends until it starts to rest on the platform. When the weight puts a small amount of force on the platform, a track pivots and a ball bearing (or marble) rolls down the track. The ball bearing strikes the bell and is caught in a shallow dish. </a:t>
            </a:r>
          </a:p>
          <a:p>
            <a:r>
              <a:rPr lang="en-US" dirty="0"/>
              <a:t>The shallow dish is separate from the rest of the mechanism so it can be easily repositioned as necessary to catch the ball. It will likely include some padding to help catch the ball. If necessary, a small magnet can be placed under the padding to help retain the ball bearing.</a:t>
            </a:r>
          </a:p>
          <a:p>
            <a:r>
              <a:rPr lang="en-US" dirty="0"/>
              <a:t>The inspiration for the bell notification mechanism came from video below.  The whole video is worth watching, but skip to 19:30 if you just want to see the bell mechanism. </a:t>
            </a:r>
          </a:p>
          <a:p>
            <a:r>
              <a:rPr lang="en-US" dirty="0">
                <a:hlinkClick r:id="rId2"/>
              </a:rPr>
              <a:t>https://www.youtube.com/watch?v=oJzy1vk2zyc&amp;list=PLxYRkul9JZoOfj6--7C8BmSLWSMhE7KK8&amp;index=25&amp;pp=gAQBiAQB</a:t>
            </a:r>
            <a:r>
              <a:rPr lang="en-US" dirty="0"/>
              <a:t>  </a:t>
            </a:r>
          </a:p>
          <a:p>
            <a:endParaRPr lang="en-US" dirty="0"/>
          </a:p>
        </p:txBody>
      </p:sp>
      <p:pic>
        <p:nvPicPr>
          <p:cNvPr id="5" name="Picture 4">
            <a:extLst>
              <a:ext uri="{FF2B5EF4-FFF2-40B4-BE49-F238E27FC236}">
                <a16:creationId xmlns:a16="http://schemas.microsoft.com/office/drawing/2014/main" id="{0868D2EB-7E76-3571-D5FA-646C6EB9BFB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587046" y="-1"/>
            <a:ext cx="5143500" cy="6858000"/>
          </a:xfrm>
          <a:prstGeom prst="rect">
            <a:avLst/>
          </a:prstGeom>
        </p:spPr>
      </p:pic>
    </p:spTree>
    <p:extLst>
      <p:ext uri="{BB962C8B-B14F-4D97-AF65-F5344CB8AC3E}">
        <p14:creationId xmlns:p14="http://schemas.microsoft.com/office/powerpoint/2010/main" val="181796811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00721245-3C23-680E-2B66-6F4987938383}"/>
              </a:ext>
            </a:extLst>
          </p:cNvPr>
          <p:cNvPicPr>
            <a:picLocks noChangeAspect="1"/>
          </p:cNvPicPr>
          <p:nvPr/>
        </p:nvPicPr>
        <p:blipFill rotWithShape="1">
          <a:blip r:embed="rId2">
            <a:extLst>
              <a:ext uri="{28A0092B-C50C-407E-A947-70E740481C1C}">
                <a14:useLocalDpi xmlns:a14="http://schemas.microsoft.com/office/drawing/2010/main" val="0"/>
              </a:ext>
            </a:extLst>
          </a:blip>
          <a:srcRect t="11391" b="40971"/>
          <a:stretch/>
        </p:blipFill>
        <p:spPr>
          <a:xfrm>
            <a:off x="1118400" y="346229"/>
            <a:ext cx="9073165" cy="5762976"/>
          </a:xfrm>
          <a:prstGeom prst="rect">
            <a:avLst/>
          </a:prstGeom>
        </p:spPr>
      </p:pic>
    </p:spTree>
    <p:extLst>
      <p:ext uri="{BB962C8B-B14F-4D97-AF65-F5344CB8AC3E}">
        <p14:creationId xmlns:p14="http://schemas.microsoft.com/office/powerpoint/2010/main" val="333471588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D8A3C6B2-894C-022F-5F9B-67532818A24B}"/>
              </a:ext>
            </a:extLst>
          </p:cNvPr>
          <p:cNvPicPr>
            <a:picLocks noGrp="1" noChangeAspect="1"/>
          </p:cNvPicPr>
          <p:nvPr>
            <p:ph idx="1"/>
          </p:nvPr>
        </p:nvPicPr>
        <p:blipFill rotWithShape="1">
          <a:blip r:embed="rId2">
            <a:extLst>
              <a:ext uri="{28A0092B-C50C-407E-A947-70E740481C1C}">
                <a14:useLocalDpi xmlns:a14="http://schemas.microsoft.com/office/drawing/2010/main" val="0"/>
              </a:ext>
            </a:extLst>
          </a:blip>
          <a:srcRect l="15104" t="11511" b="24818"/>
          <a:stretch/>
        </p:blipFill>
        <p:spPr>
          <a:xfrm>
            <a:off x="4731798" y="816746"/>
            <a:ext cx="4341182" cy="4341180"/>
          </a:xfrm>
        </p:spPr>
      </p:pic>
    </p:spTree>
    <p:extLst>
      <p:ext uri="{BB962C8B-B14F-4D97-AF65-F5344CB8AC3E}">
        <p14:creationId xmlns:p14="http://schemas.microsoft.com/office/powerpoint/2010/main" val="306916729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Picture 21">
            <a:extLst>
              <a:ext uri="{FF2B5EF4-FFF2-40B4-BE49-F238E27FC236}">
                <a16:creationId xmlns:a16="http://schemas.microsoft.com/office/drawing/2014/main" id="{93E86EF7-A809-1BE8-623C-D2C25E0B2940}"/>
              </a:ext>
            </a:extLst>
          </p:cNvPr>
          <p:cNvPicPr>
            <a:picLocks noChangeAspect="1"/>
          </p:cNvPicPr>
          <p:nvPr/>
        </p:nvPicPr>
        <p:blipFill>
          <a:blip r:embed="rId3">
            <a:extLst>
              <a:ext uri="{28A0092B-C50C-407E-A947-70E740481C1C}">
                <a14:useLocalDpi xmlns:a14="http://schemas.microsoft.com/office/drawing/2010/main" val="0"/>
              </a:ext>
            </a:extLst>
          </a:blip>
          <a:srcRect l="20823" t="37640" r="30585" b="27190"/>
          <a:stretch>
            <a:fillRect/>
          </a:stretch>
        </p:blipFill>
        <p:spPr>
          <a:xfrm>
            <a:off x="6935537" y="3652329"/>
            <a:ext cx="3332413" cy="2411921"/>
          </a:xfrm>
          <a:prstGeom prst="rect">
            <a:avLst/>
          </a:prstGeom>
        </p:spPr>
      </p:pic>
      <p:pic>
        <p:nvPicPr>
          <p:cNvPr id="26" name="Picture 25">
            <a:extLst>
              <a:ext uri="{FF2B5EF4-FFF2-40B4-BE49-F238E27FC236}">
                <a16:creationId xmlns:a16="http://schemas.microsoft.com/office/drawing/2014/main" id="{F1E26B7B-6144-5543-C928-6AF2AE2885D3}"/>
              </a:ext>
            </a:extLst>
          </p:cNvPr>
          <p:cNvPicPr>
            <a:picLocks noChangeAspect="1"/>
          </p:cNvPicPr>
          <p:nvPr/>
        </p:nvPicPr>
        <p:blipFill>
          <a:blip r:embed="rId4">
            <a:extLst>
              <a:ext uri="{28A0092B-C50C-407E-A947-70E740481C1C}">
                <a14:useLocalDpi xmlns:a14="http://schemas.microsoft.com/office/drawing/2010/main" val="0"/>
              </a:ext>
            </a:extLst>
          </a:blip>
          <a:srcRect l="25201" r="16501" b="33036"/>
          <a:stretch>
            <a:fillRect/>
          </a:stretch>
        </p:blipFill>
        <p:spPr>
          <a:xfrm>
            <a:off x="6935537" y="-2101458"/>
            <a:ext cx="3998069" cy="4592380"/>
          </a:xfrm>
          <a:prstGeom prst="rect">
            <a:avLst/>
          </a:prstGeom>
        </p:spPr>
      </p:pic>
      <p:sp>
        <p:nvSpPr>
          <p:cNvPr id="46" name="Flowchart: Magnetic Disk 45">
            <a:extLst>
              <a:ext uri="{FF2B5EF4-FFF2-40B4-BE49-F238E27FC236}">
                <a16:creationId xmlns:a16="http://schemas.microsoft.com/office/drawing/2014/main" id="{16AB3923-A170-6184-9B67-864B8EDF2326}"/>
              </a:ext>
            </a:extLst>
          </p:cNvPr>
          <p:cNvSpPr/>
          <p:nvPr/>
        </p:nvSpPr>
        <p:spPr>
          <a:xfrm>
            <a:off x="9554447" y="2264161"/>
            <a:ext cx="817123" cy="870759"/>
          </a:xfrm>
          <a:prstGeom prst="flowChartMagneticDisk">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8B9FF1E-9CDC-4C1B-C577-27F972A198AD}"/>
              </a:ext>
            </a:extLst>
          </p:cNvPr>
          <p:cNvSpPr>
            <a:spLocks noGrp="1"/>
          </p:cNvSpPr>
          <p:nvPr>
            <p:ph type="title"/>
          </p:nvPr>
        </p:nvSpPr>
        <p:spPr>
          <a:xfrm>
            <a:off x="422627" y="241551"/>
            <a:ext cx="4833837" cy="1325563"/>
          </a:xfrm>
        </p:spPr>
        <p:txBody>
          <a:bodyPr/>
          <a:lstStyle/>
          <a:p>
            <a:r>
              <a:rPr lang="en-US" dirty="0"/>
              <a:t>Tea Bag Lifter Mechanism</a:t>
            </a:r>
          </a:p>
        </p:txBody>
      </p:sp>
      <p:sp>
        <p:nvSpPr>
          <p:cNvPr id="3" name="Content Placeholder 2">
            <a:extLst>
              <a:ext uri="{FF2B5EF4-FFF2-40B4-BE49-F238E27FC236}">
                <a16:creationId xmlns:a16="http://schemas.microsoft.com/office/drawing/2014/main" id="{97569571-2726-A49D-57BF-4A220A54F4C4}"/>
              </a:ext>
            </a:extLst>
          </p:cNvPr>
          <p:cNvSpPr>
            <a:spLocks noGrp="1"/>
          </p:cNvSpPr>
          <p:nvPr>
            <p:ph idx="1"/>
          </p:nvPr>
        </p:nvSpPr>
        <p:spPr>
          <a:xfrm>
            <a:off x="838199" y="1825625"/>
            <a:ext cx="4941163" cy="4351338"/>
          </a:xfrm>
        </p:spPr>
        <p:txBody>
          <a:bodyPr/>
          <a:lstStyle/>
          <a:p>
            <a:r>
              <a:rPr lang="en-US" dirty="0"/>
              <a:t>Attached to the back of the ball track is a bent rod that is the tea bag lifter mechanism</a:t>
            </a:r>
          </a:p>
          <a:p>
            <a:endParaRPr lang="en-US" dirty="0"/>
          </a:p>
          <a:p>
            <a:pPr marL="0" indent="0">
              <a:buNone/>
            </a:pPr>
            <a:endParaRPr lang="en-US" dirty="0"/>
          </a:p>
          <a:p>
            <a:r>
              <a:rPr lang="en-US" dirty="0"/>
              <a:t>When the ball track rotates, the rod will rotate up, lifting the tea bag out of the mug</a:t>
            </a:r>
          </a:p>
        </p:txBody>
      </p:sp>
      <p:cxnSp>
        <p:nvCxnSpPr>
          <p:cNvPr id="7" name="Straight Connector 6">
            <a:extLst>
              <a:ext uri="{FF2B5EF4-FFF2-40B4-BE49-F238E27FC236}">
                <a16:creationId xmlns:a16="http://schemas.microsoft.com/office/drawing/2014/main" id="{19E608D3-B912-225D-B5A2-AA4986578C66}"/>
              </a:ext>
            </a:extLst>
          </p:cNvPr>
          <p:cNvCxnSpPr/>
          <p:nvPr/>
        </p:nvCxnSpPr>
        <p:spPr>
          <a:xfrm>
            <a:off x="9880847" y="1134960"/>
            <a:ext cx="0" cy="864309"/>
          </a:xfrm>
          <a:prstGeom prst="line">
            <a:avLst/>
          </a:prstGeom>
          <a:ln w="19050"/>
        </p:spPr>
        <p:style>
          <a:lnRef idx="1">
            <a:schemeClr val="accent1"/>
          </a:lnRef>
          <a:fillRef idx="0">
            <a:schemeClr val="accent1"/>
          </a:fillRef>
          <a:effectRef idx="0">
            <a:schemeClr val="accent1"/>
          </a:effectRef>
          <a:fontRef idx="minor">
            <a:schemeClr val="tx1"/>
          </a:fontRef>
        </p:style>
      </p:cxnSp>
      <p:sp>
        <p:nvSpPr>
          <p:cNvPr id="8" name="Isosceles Triangle 7">
            <a:extLst>
              <a:ext uri="{FF2B5EF4-FFF2-40B4-BE49-F238E27FC236}">
                <a16:creationId xmlns:a16="http://schemas.microsoft.com/office/drawing/2014/main" id="{3D011844-D6F1-30BE-9B78-B208A96BC09A}"/>
              </a:ext>
            </a:extLst>
          </p:cNvPr>
          <p:cNvSpPr/>
          <p:nvPr/>
        </p:nvSpPr>
        <p:spPr>
          <a:xfrm>
            <a:off x="9803167" y="1999268"/>
            <a:ext cx="155359" cy="556890"/>
          </a:xfrm>
          <a:prstGeom prst="triangl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a:extLst>
              <a:ext uri="{FF2B5EF4-FFF2-40B4-BE49-F238E27FC236}">
                <a16:creationId xmlns:a16="http://schemas.microsoft.com/office/drawing/2014/main" id="{17745141-5D41-D9F9-7609-1D61836253CC}"/>
              </a:ext>
            </a:extLst>
          </p:cNvPr>
          <p:cNvSpPr txBox="1"/>
          <p:nvPr/>
        </p:nvSpPr>
        <p:spPr>
          <a:xfrm>
            <a:off x="9895022" y="1915895"/>
            <a:ext cx="899926" cy="369332"/>
          </a:xfrm>
          <a:prstGeom prst="rect">
            <a:avLst/>
          </a:prstGeom>
          <a:noFill/>
        </p:spPr>
        <p:txBody>
          <a:bodyPr wrap="none" rtlCol="0">
            <a:spAutoFit/>
          </a:bodyPr>
          <a:lstStyle/>
          <a:p>
            <a:r>
              <a:rPr lang="en-US" dirty="0"/>
              <a:t>Tea Bag</a:t>
            </a:r>
          </a:p>
        </p:txBody>
      </p:sp>
      <p:cxnSp>
        <p:nvCxnSpPr>
          <p:cNvPr id="11" name="Straight Connector 10">
            <a:extLst>
              <a:ext uri="{FF2B5EF4-FFF2-40B4-BE49-F238E27FC236}">
                <a16:creationId xmlns:a16="http://schemas.microsoft.com/office/drawing/2014/main" id="{3CAEC62F-AC04-37C9-B7A7-F66861161973}"/>
              </a:ext>
            </a:extLst>
          </p:cNvPr>
          <p:cNvCxnSpPr>
            <a:cxnSpLocks/>
          </p:cNvCxnSpPr>
          <p:nvPr/>
        </p:nvCxnSpPr>
        <p:spPr>
          <a:xfrm>
            <a:off x="9865130" y="4778911"/>
            <a:ext cx="95388" cy="357188"/>
          </a:xfrm>
          <a:prstGeom prst="line">
            <a:avLst/>
          </a:prstGeom>
          <a:ln w="19050"/>
        </p:spPr>
        <p:style>
          <a:lnRef idx="1">
            <a:schemeClr val="accent1"/>
          </a:lnRef>
          <a:fillRef idx="0">
            <a:schemeClr val="accent1"/>
          </a:fillRef>
          <a:effectRef idx="0">
            <a:schemeClr val="accent1"/>
          </a:effectRef>
          <a:fontRef idx="minor">
            <a:schemeClr val="tx1"/>
          </a:fontRef>
        </p:style>
      </p:cxnSp>
      <p:sp>
        <p:nvSpPr>
          <p:cNvPr id="12" name="Isosceles Triangle 11">
            <a:extLst>
              <a:ext uri="{FF2B5EF4-FFF2-40B4-BE49-F238E27FC236}">
                <a16:creationId xmlns:a16="http://schemas.microsoft.com/office/drawing/2014/main" id="{89BF0177-F563-E585-FE61-408D3680B923}"/>
              </a:ext>
            </a:extLst>
          </p:cNvPr>
          <p:cNvSpPr/>
          <p:nvPr/>
        </p:nvSpPr>
        <p:spPr>
          <a:xfrm>
            <a:off x="9880984" y="5252182"/>
            <a:ext cx="155359" cy="556890"/>
          </a:xfrm>
          <a:prstGeom prst="triangl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36" name="Straight Connector 35">
            <a:extLst>
              <a:ext uri="{FF2B5EF4-FFF2-40B4-BE49-F238E27FC236}">
                <a16:creationId xmlns:a16="http://schemas.microsoft.com/office/drawing/2014/main" id="{F3FE06F3-15CC-BA60-89AA-058F8F7BE279}"/>
              </a:ext>
            </a:extLst>
          </p:cNvPr>
          <p:cNvCxnSpPr>
            <a:cxnSpLocks/>
            <a:stCxn id="12" idx="0"/>
          </p:cNvCxnSpPr>
          <p:nvPr/>
        </p:nvCxnSpPr>
        <p:spPr>
          <a:xfrm flipH="1" flipV="1">
            <a:off x="9958526" y="5083969"/>
            <a:ext cx="138" cy="168213"/>
          </a:xfrm>
          <a:prstGeom prst="line">
            <a:avLst/>
          </a:prstGeom>
          <a:ln w="19050"/>
        </p:spPr>
        <p:style>
          <a:lnRef idx="1">
            <a:schemeClr val="accent1"/>
          </a:lnRef>
          <a:fillRef idx="0">
            <a:schemeClr val="accent1"/>
          </a:fillRef>
          <a:effectRef idx="0">
            <a:schemeClr val="accent1"/>
          </a:effectRef>
          <a:fontRef idx="minor">
            <a:schemeClr val="tx1"/>
          </a:fontRef>
        </p:style>
      </p:cxnSp>
      <p:sp>
        <p:nvSpPr>
          <p:cNvPr id="47" name="Moon 46">
            <a:extLst>
              <a:ext uri="{FF2B5EF4-FFF2-40B4-BE49-F238E27FC236}">
                <a16:creationId xmlns:a16="http://schemas.microsoft.com/office/drawing/2014/main" id="{D4CF416D-5D0B-CCDA-7BC1-7BCF95C68880}"/>
              </a:ext>
            </a:extLst>
          </p:cNvPr>
          <p:cNvSpPr/>
          <p:nvPr/>
        </p:nvSpPr>
        <p:spPr>
          <a:xfrm flipH="1">
            <a:off x="10294535" y="2508969"/>
            <a:ext cx="285644" cy="490904"/>
          </a:xfrm>
          <a:prstGeom prst="moon">
            <a:avLst/>
          </a:prstGeom>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endParaRPr lang="en-US"/>
          </a:p>
        </p:txBody>
      </p:sp>
      <p:sp>
        <p:nvSpPr>
          <p:cNvPr id="48" name="Flowchart: Stored Data 47">
            <a:extLst>
              <a:ext uri="{FF2B5EF4-FFF2-40B4-BE49-F238E27FC236}">
                <a16:creationId xmlns:a16="http://schemas.microsoft.com/office/drawing/2014/main" id="{C8C03ABC-F032-B18B-0ADD-1388C4332BEA}"/>
              </a:ext>
            </a:extLst>
          </p:cNvPr>
          <p:cNvSpPr/>
          <p:nvPr/>
        </p:nvSpPr>
        <p:spPr>
          <a:xfrm rot="16200000">
            <a:off x="9578028" y="2345859"/>
            <a:ext cx="760997" cy="817124"/>
          </a:xfrm>
          <a:prstGeom prst="flowChartOnlineStorage">
            <a:avLst/>
          </a:prstGeom>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endParaRPr lang="en-US"/>
          </a:p>
        </p:txBody>
      </p:sp>
      <p:sp>
        <p:nvSpPr>
          <p:cNvPr id="49" name="TextBox 48">
            <a:extLst>
              <a:ext uri="{FF2B5EF4-FFF2-40B4-BE49-F238E27FC236}">
                <a16:creationId xmlns:a16="http://schemas.microsoft.com/office/drawing/2014/main" id="{2AC67E99-3963-8C96-8F87-2522B597484F}"/>
              </a:ext>
            </a:extLst>
          </p:cNvPr>
          <p:cNvSpPr txBox="1"/>
          <p:nvPr/>
        </p:nvSpPr>
        <p:spPr>
          <a:xfrm>
            <a:off x="10580179" y="2653675"/>
            <a:ext cx="612668" cy="369332"/>
          </a:xfrm>
          <a:prstGeom prst="rect">
            <a:avLst/>
          </a:prstGeom>
          <a:noFill/>
        </p:spPr>
        <p:txBody>
          <a:bodyPr wrap="none" rtlCol="0">
            <a:spAutoFit/>
          </a:bodyPr>
          <a:lstStyle/>
          <a:p>
            <a:r>
              <a:rPr lang="en-US" dirty="0"/>
              <a:t>Mug</a:t>
            </a:r>
          </a:p>
        </p:txBody>
      </p:sp>
      <p:sp>
        <p:nvSpPr>
          <p:cNvPr id="50" name="Flowchart: Magnetic Disk 49">
            <a:extLst>
              <a:ext uri="{FF2B5EF4-FFF2-40B4-BE49-F238E27FC236}">
                <a16:creationId xmlns:a16="http://schemas.microsoft.com/office/drawing/2014/main" id="{0FD0F9F2-6D3F-D6D4-90AB-0C6B5BE6D6AD}"/>
              </a:ext>
            </a:extLst>
          </p:cNvPr>
          <p:cNvSpPr/>
          <p:nvPr/>
        </p:nvSpPr>
        <p:spPr>
          <a:xfrm>
            <a:off x="9554447" y="5834230"/>
            <a:ext cx="817123" cy="870759"/>
          </a:xfrm>
          <a:prstGeom prst="flowChartMagneticDisk">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52" name="Moon 51">
            <a:extLst>
              <a:ext uri="{FF2B5EF4-FFF2-40B4-BE49-F238E27FC236}">
                <a16:creationId xmlns:a16="http://schemas.microsoft.com/office/drawing/2014/main" id="{7A384872-65E7-3A8A-9008-208C8DA2CDB8}"/>
              </a:ext>
            </a:extLst>
          </p:cNvPr>
          <p:cNvSpPr/>
          <p:nvPr/>
        </p:nvSpPr>
        <p:spPr>
          <a:xfrm flipH="1">
            <a:off x="10294535" y="6079038"/>
            <a:ext cx="285644" cy="490904"/>
          </a:xfrm>
          <a:prstGeom prst="moon">
            <a:avLst/>
          </a:prstGeom>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endParaRPr lang="en-US"/>
          </a:p>
        </p:txBody>
      </p:sp>
      <p:sp>
        <p:nvSpPr>
          <p:cNvPr id="53" name="Flowchart: Stored Data 52">
            <a:extLst>
              <a:ext uri="{FF2B5EF4-FFF2-40B4-BE49-F238E27FC236}">
                <a16:creationId xmlns:a16="http://schemas.microsoft.com/office/drawing/2014/main" id="{89DE8C91-5313-D35B-D80E-634073918AD2}"/>
              </a:ext>
            </a:extLst>
          </p:cNvPr>
          <p:cNvSpPr/>
          <p:nvPr/>
        </p:nvSpPr>
        <p:spPr>
          <a:xfrm rot="16200000">
            <a:off x="9578028" y="5915928"/>
            <a:ext cx="760997" cy="817124"/>
          </a:xfrm>
          <a:prstGeom prst="flowChartOnlineStorage">
            <a:avLst/>
          </a:prstGeom>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96739358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57CA2BC-4BDD-1C94-558A-2C2044D2F9F4}"/>
              </a:ext>
            </a:extLst>
          </p:cNvPr>
          <p:cNvSpPr>
            <a:spLocks noGrp="1"/>
          </p:cNvSpPr>
          <p:nvPr>
            <p:ph idx="1"/>
          </p:nvPr>
        </p:nvSpPr>
        <p:spPr>
          <a:xfrm>
            <a:off x="838200" y="1473693"/>
            <a:ext cx="10515600" cy="4703270"/>
          </a:xfrm>
        </p:spPr>
        <p:txBody>
          <a:bodyPr/>
          <a:lstStyle/>
          <a:p>
            <a:r>
              <a:rPr lang="en-US" dirty="0"/>
              <a:t>Red Morrel Burl  - </a:t>
            </a:r>
            <a:r>
              <a:rPr lang="en-US" dirty="0">
                <a:hlinkClick r:id="rId2"/>
              </a:rPr>
              <a:t>https://www.youtube.com/watch?v=vFXsJNO3qsI</a:t>
            </a:r>
            <a:endParaRPr lang="en-US" dirty="0"/>
          </a:p>
          <a:p>
            <a:r>
              <a:rPr lang="en-US" dirty="0"/>
              <a:t>Curly Koa is another good wood for a base</a:t>
            </a:r>
          </a:p>
          <a:p>
            <a:r>
              <a:rPr lang="en-US" dirty="0"/>
              <a:t>But Walnut trophy bases are much less expensive:</a:t>
            </a:r>
          </a:p>
          <a:p>
            <a:pPr lvl="1"/>
            <a:r>
              <a:rPr lang="en-US" dirty="0">
                <a:hlinkClick r:id="rId3"/>
              </a:rPr>
              <a:t>https://www.jpplus.com/solid-walnut-plaque-base?sku=XP5114-EA</a:t>
            </a:r>
            <a:endParaRPr lang="en-US" dirty="0">
              <a:solidFill>
                <a:srgbClr val="222222"/>
              </a:solidFill>
              <a:highlight>
                <a:srgbClr val="FFFFFF"/>
              </a:highlight>
              <a:latin typeface="Arial" panose="020B0604020202020204" pitchFamily="34" charset="0"/>
            </a:endParaRPr>
          </a:p>
          <a:p>
            <a:pPr lvl="1"/>
            <a:r>
              <a:rPr lang="en-US" dirty="0">
                <a:hlinkClick r:id="rId4"/>
              </a:rPr>
              <a:t>https://www.jpplus.com/roman-cove-edge-plaque?sku=W791-EA</a:t>
            </a:r>
            <a:endParaRPr lang="en-US" dirty="0">
              <a:solidFill>
                <a:srgbClr val="222222"/>
              </a:solidFill>
              <a:highlight>
                <a:srgbClr val="FFFFFF"/>
              </a:highlight>
              <a:latin typeface="Arial" panose="020B0604020202020204" pitchFamily="34" charset="0"/>
            </a:endParaRPr>
          </a:p>
          <a:p>
            <a:pPr lvl="1"/>
            <a:endParaRPr lang="en-US" dirty="0"/>
          </a:p>
          <a:p>
            <a:endParaRPr lang="en-US" dirty="0"/>
          </a:p>
        </p:txBody>
      </p:sp>
      <p:pic>
        <p:nvPicPr>
          <p:cNvPr id="6" name="Picture 5">
            <a:extLst>
              <a:ext uri="{FF2B5EF4-FFF2-40B4-BE49-F238E27FC236}">
                <a16:creationId xmlns:a16="http://schemas.microsoft.com/office/drawing/2014/main" id="{EA500B83-639C-A047-4505-C9F2B39F8C9E}"/>
              </a:ext>
            </a:extLst>
          </p:cNvPr>
          <p:cNvPicPr>
            <a:picLocks noChangeAspect="1"/>
          </p:cNvPicPr>
          <p:nvPr/>
        </p:nvPicPr>
        <p:blipFill>
          <a:blip r:embed="rId5"/>
          <a:stretch>
            <a:fillRect/>
          </a:stretch>
        </p:blipFill>
        <p:spPr>
          <a:xfrm>
            <a:off x="508620" y="3814808"/>
            <a:ext cx="10134600" cy="2781300"/>
          </a:xfrm>
          <a:prstGeom prst="rect">
            <a:avLst/>
          </a:prstGeom>
        </p:spPr>
      </p:pic>
      <p:sp>
        <p:nvSpPr>
          <p:cNvPr id="2" name="Title 1">
            <a:extLst>
              <a:ext uri="{FF2B5EF4-FFF2-40B4-BE49-F238E27FC236}">
                <a16:creationId xmlns:a16="http://schemas.microsoft.com/office/drawing/2014/main" id="{D212F6FE-C9CD-26A1-8661-7D0C93C5ED5F}"/>
              </a:ext>
            </a:extLst>
          </p:cNvPr>
          <p:cNvSpPr>
            <a:spLocks noGrp="1"/>
          </p:cNvSpPr>
          <p:nvPr>
            <p:ph type="title"/>
          </p:nvPr>
        </p:nvSpPr>
        <p:spPr>
          <a:xfrm>
            <a:off x="508620" y="148130"/>
            <a:ext cx="10515600" cy="1325563"/>
          </a:xfrm>
        </p:spPr>
        <p:txBody>
          <a:bodyPr/>
          <a:lstStyle/>
          <a:p>
            <a:r>
              <a:rPr lang="en-US" dirty="0"/>
              <a:t>Wooden Base</a:t>
            </a:r>
          </a:p>
        </p:txBody>
      </p:sp>
    </p:spTree>
    <p:extLst>
      <p:ext uri="{BB962C8B-B14F-4D97-AF65-F5344CB8AC3E}">
        <p14:creationId xmlns:p14="http://schemas.microsoft.com/office/powerpoint/2010/main" val="254431243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D52C15-393C-1CA1-7F9C-880E3F82B524}"/>
              </a:ext>
            </a:extLst>
          </p:cNvPr>
          <p:cNvSpPr>
            <a:spLocks noGrp="1"/>
          </p:cNvSpPr>
          <p:nvPr>
            <p:ph type="title"/>
          </p:nvPr>
        </p:nvSpPr>
        <p:spPr/>
        <p:txBody>
          <a:bodyPr/>
          <a:lstStyle/>
          <a:p>
            <a:r>
              <a:rPr lang="en-US" dirty="0"/>
              <a:t>Tea Organizer base</a:t>
            </a:r>
          </a:p>
        </p:txBody>
      </p:sp>
      <p:pic>
        <p:nvPicPr>
          <p:cNvPr id="4" name="Content Placeholder 3">
            <a:extLst>
              <a:ext uri="{FF2B5EF4-FFF2-40B4-BE49-F238E27FC236}">
                <a16:creationId xmlns:a16="http://schemas.microsoft.com/office/drawing/2014/main" id="{98ED200A-9008-9AC9-5099-059B7554EA30}"/>
              </a:ext>
            </a:extLst>
          </p:cNvPr>
          <p:cNvPicPr>
            <a:picLocks noGrp="1" noChangeAspect="1"/>
          </p:cNvPicPr>
          <p:nvPr>
            <p:ph idx="1"/>
          </p:nvPr>
        </p:nvPicPr>
        <p:blipFill>
          <a:blip r:embed="rId2"/>
          <a:stretch>
            <a:fillRect/>
          </a:stretch>
        </p:blipFill>
        <p:spPr>
          <a:xfrm>
            <a:off x="5623264" y="1843381"/>
            <a:ext cx="5440885" cy="4351338"/>
          </a:xfrm>
          <a:prstGeom prst="rect">
            <a:avLst/>
          </a:prstGeom>
        </p:spPr>
      </p:pic>
      <p:sp>
        <p:nvSpPr>
          <p:cNvPr id="5" name="TextBox 4">
            <a:extLst>
              <a:ext uri="{FF2B5EF4-FFF2-40B4-BE49-F238E27FC236}">
                <a16:creationId xmlns:a16="http://schemas.microsoft.com/office/drawing/2014/main" id="{1FA1EC7D-B860-405D-22B6-D795D2239A09}"/>
              </a:ext>
            </a:extLst>
          </p:cNvPr>
          <p:cNvSpPr txBox="1"/>
          <p:nvPr/>
        </p:nvSpPr>
        <p:spPr>
          <a:xfrm>
            <a:off x="838200" y="1843381"/>
            <a:ext cx="4293093" cy="2862322"/>
          </a:xfrm>
          <a:prstGeom prst="rect">
            <a:avLst/>
          </a:prstGeom>
          <a:noFill/>
        </p:spPr>
        <p:txBody>
          <a:bodyPr wrap="square" rtlCol="0">
            <a:spAutoFit/>
          </a:bodyPr>
          <a:lstStyle/>
          <a:p>
            <a:r>
              <a:rPr lang="en-US" dirty="0"/>
              <a:t>In order to have enough room for a mug underneath the wheel, I think the device might need to be placed on a stand like this </a:t>
            </a:r>
            <a:r>
              <a:rPr lang="en-US" dirty="0">
                <a:hlinkClick r:id="rId3"/>
              </a:rPr>
              <a:t>tea organizer</a:t>
            </a:r>
            <a:r>
              <a:rPr lang="en-US" dirty="0"/>
              <a:t>.</a:t>
            </a:r>
          </a:p>
          <a:p>
            <a:endParaRPr lang="en-US" dirty="0"/>
          </a:p>
          <a:p>
            <a:r>
              <a:rPr lang="en-US" dirty="0"/>
              <a:t>Alternatively , this type of chest/organizer could be built into the wooden base.  It would be much more elegant this way, though difficult to find an artisan who can make a nice chest and do the machining.</a:t>
            </a:r>
          </a:p>
        </p:txBody>
      </p:sp>
    </p:spTree>
    <p:extLst>
      <p:ext uri="{BB962C8B-B14F-4D97-AF65-F5344CB8AC3E}">
        <p14:creationId xmlns:p14="http://schemas.microsoft.com/office/powerpoint/2010/main" val="267239445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6EEF1D-F021-29A0-35CE-AE6B5099500C}"/>
              </a:ext>
            </a:extLst>
          </p:cNvPr>
          <p:cNvSpPr>
            <a:spLocks noGrp="1"/>
          </p:cNvSpPr>
          <p:nvPr>
            <p:ph type="title"/>
          </p:nvPr>
        </p:nvSpPr>
        <p:spPr/>
        <p:txBody>
          <a:bodyPr/>
          <a:lstStyle/>
          <a:p>
            <a:r>
              <a:rPr lang="en-US" dirty="0"/>
              <a:t>String and Weight</a:t>
            </a:r>
          </a:p>
        </p:txBody>
      </p:sp>
      <p:sp>
        <p:nvSpPr>
          <p:cNvPr id="3" name="Content Placeholder 2">
            <a:extLst>
              <a:ext uri="{FF2B5EF4-FFF2-40B4-BE49-F238E27FC236}">
                <a16:creationId xmlns:a16="http://schemas.microsoft.com/office/drawing/2014/main" id="{A26EFA73-AEF2-417E-EA41-EE62A094CE6D}"/>
              </a:ext>
            </a:extLst>
          </p:cNvPr>
          <p:cNvSpPr>
            <a:spLocks noGrp="1"/>
          </p:cNvSpPr>
          <p:nvPr>
            <p:ph idx="1"/>
          </p:nvPr>
        </p:nvSpPr>
        <p:spPr/>
        <p:txBody>
          <a:bodyPr>
            <a:normAutofit/>
          </a:bodyPr>
          <a:lstStyle/>
          <a:p>
            <a:r>
              <a:rPr lang="en-US" dirty="0">
                <a:hlinkClick r:id="rId2"/>
              </a:rPr>
              <a:t>https://www.amazon.com/Slotted-Weight-Set-100g-Removable/dp/B08JM71KVX</a:t>
            </a:r>
            <a:endParaRPr lang="en-US" dirty="0"/>
          </a:p>
          <a:p>
            <a:endParaRPr lang="en-US" dirty="0"/>
          </a:p>
        </p:txBody>
      </p:sp>
      <p:pic>
        <p:nvPicPr>
          <p:cNvPr id="3074" name="Picture 2">
            <a:extLst>
              <a:ext uri="{FF2B5EF4-FFF2-40B4-BE49-F238E27FC236}">
                <a16:creationId xmlns:a16="http://schemas.microsoft.com/office/drawing/2014/main" id="{19E7CE5E-7AD5-2188-80A9-CA5EC1653B3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90985" y="2833117"/>
            <a:ext cx="1935659" cy="173558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369490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FB52EA-44AE-2A89-F840-4A60A8F53506}"/>
              </a:ext>
            </a:extLst>
          </p:cNvPr>
          <p:cNvSpPr>
            <a:spLocks noGrp="1"/>
          </p:cNvSpPr>
          <p:nvPr>
            <p:ph type="title"/>
          </p:nvPr>
        </p:nvSpPr>
        <p:spPr/>
        <p:txBody>
          <a:bodyPr/>
          <a:lstStyle/>
          <a:p>
            <a:r>
              <a:rPr lang="en-US" dirty="0"/>
              <a:t>Parameters influencing steeping time</a:t>
            </a:r>
          </a:p>
        </p:txBody>
      </p:sp>
      <p:sp>
        <p:nvSpPr>
          <p:cNvPr id="5" name="TextBox 4">
            <a:extLst>
              <a:ext uri="{FF2B5EF4-FFF2-40B4-BE49-F238E27FC236}">
                <a16:creationId xmlns:a16="http://schemas.microsoft.com/office/drawing/2014/main" id="{932C2BD3-B808-AA2C-DAD6-561D61A19477}"/>
              </a:ext>
            </a:extLst>
          </p:cNvPr>
          <p:cNvSpPr txBox="1"/>
          <p:nvPr/>
        </p:nvSpPr>
        <p:spPr>
          <a:xfrm>
            <a:off x="354404" y="1679325"/>
            <a:ext cx="7245060" cy="4801314"/>
          </a:xfrm>
          <a:prstGeom prst="rect">
            <a:avLst/>
          </a:prstGeom>
          <a:noFill/>
        </p:spPr>
        <p:txBody>
          <a:bodyPr wrap="none" rtlCol="0">
            <a:spAutoFit/>
          </a:bodyPr>
          <a:lstStyle/>
          <a:p>
            <a:pPr marL="285750" indent="-285750">
              <a:buFont typeface="Arial" panose="020B0604020202020204" pitchFamily="34" charset="0"/>
              <a:buChar char="•"/>
            </a:pPr>
            <a:r>
              <a:rPr lang="en-US" dirty="0"/>
              <a:t>Length of main weight travel</a:t>
            </a:r>
          </a:p>
          <a:p>
            <a:pPr marL="742950" lvl="1" indent="-285750">
              <a:buFont typeface="Arial" panose="020B0604020202020204" pitchFamily="34" charset="0"/>
              <a:buChar char="•"/>
            </a:pPr>
            <a:r>
              <a:rPr lang="en-US" dirty="0"/>
              <a:t>Design goal: ~300 mm</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Seconds per rev (s/rev)</a:t>
            </a:r>
          </a:p>
          <a:p>
            <a:pPr marL="742950" lvl="1" indent="-285750">
              <a:buFont typeface="Arial" panose="020B0604020202020204" pitchFamily="34" charset="0"/>
              <a:buChar char="•"/>
            </a:pPr>
            <a:r>
              <a:rPr lang="en-US" dirty="0"/>
              <a:t>Design goal: ≥ 9 sec/rev</a:t>
            </a:r>
          </a:p>
          <a:p>
            <a:pPr marL="742950" lvl="1" indent="-285750">
              <a:buFont typeface="Arial" panose="020B0604020202020204" pitchFamily="34" charset="0"/>
              <a:buChar char="•"/>
            </a:pPr>
            <a:r>
              <a:rPr lang="en-US" dirty="0"/>
              <a:t>Pendulum string length has the largest influence on this parameter </a:t>
            </a:r>
          </a:p>
          <a:p>
            <a:pPr marL="742950" lvl="1" indent="-285750">
              <a:buFont typeface="Arial" panose="020B0604020202020204" pitchFamily="34" charset="0"/>
              <a:buChar char="•"/>
            </a:pPr>
            <a:r>
              <a:rPr lang="en-US" dirty="0"/>
              <a:t>Other factors include:</a:t>
            </a:r>
          </a:p>
          <a:p>
            <a:pPr marL="1200150" lvl="2" indent="-285750">
              <a:buFont typeface="Arial" panose="020B0604020202020204" pitchFamily="34" charset="0"/>
              <a:buChar char="•"/>
            </a:pPr>
            <a:r>
              <a:rPr lang="en-US" dirty="0"/>
              <a:t>Pendulum weight</a:t>
            </a:r>
          </a:p>
          <a:p>
            <a:pPr marL="1200150" lvl="2" indent="-285750">
              <a:buFont typeface="Arial" panose="020B0604020202020204" pitchFamily="34" charset="0"/>
              <a:buChar char="•"/>
            </a:pPr>
            <a:r>
              <a:rPr lang="en-US" dirty="0"/>
              <a:t>Mass of main weight</a:t>
            </a:r>
          </a:p>
          <a:p>
            <a:pPr marL="1200150" lvl="2" indent="-285750">
              <a:buFont typeface="Arial" panose="020B0604020202020204" pitchFamily="34" charset="0"/>
              <a:buChar char="•"/>
            </a:pPr>
            <a:r>
              <a:rPr lang="en-US" dirty="0"/>
              <a:t>Distance between static arms (?)</a:t>
            </a:r>
          </a:p>
          <a:p>
            <a:pPr marL="1200150" lvl="2" indent="-285750">
              <a:buFont typeface="Arial" panose="020B0604020202020204" pitchFamily="34" charset="0"/>
              <a:buChar char="•"/>
            </a:pPr>
            <a:r>
              <a:rPr lang="en-US" dirty="0"/>
              <a:t>Angle between upper and lower static arms</a:t>
            </a:r>
          </a:p>
          <a:p>
            <a:pPr marL="1200150" lvl="2" indent="-285750">
              <a:buFont typeface="Arial" panose="020B0604020202020204" pitchFamily="34" charset="0"/>
              <a:buChar char="•"/>
            </a:pPr>
            <a:r>
              <a:rPr lang="en-US" dirty="0"/>
              <a:t>Friction</a:t>
            </a:r>
          </a:p>
          <a:p>
            <a:pPr marL="742950" lvl="1"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String extended per rev (mm/rev)</a:t>
            </a:r>
          </a:p>
          <a:p>
            <a:pPr marL="742950" lvl="1" indent="-285750">
              <a:buFont typeface="Arial" panose="020B0604020202020204" pitchFamily="34" charset="0"/>
              <a:buChar char="•"/>
            </a:pPr>
            <a:r>
              <a:rPr lang="en-US" dirty="0"/>
              <a:t>Diameter of rotating rod (3mm)</a:t>
            </a:r>
          </a:p>
          <a:p>
            <a:pPr marL="742950" lvl="1" indent="-285750">
              <a:buFont typeface="Arial" panose="020B0604020202020204" pitchFamily="34" charset="0"/>
              <a:buChar char="•"/>
            </a:pPr>
            <a:r>
              <a:rPr lang="en-US" dirty="0"/>
              <a:t>Diameter * </a:t>
            </a:r>
            <a:r>
              <a:rPr lang="en-US" dirty="0">
                <a:latin typeface="Sylfaen" panose="010A0502050306030303" pitchFamily="18" charset="0"/>
              </a:rPr>
              <a:t>π</a:t>
            </a:r>
            <a:endParaRPr lang="en-US" dirty="0"/>
          </a:p>
          <a:p>
            <a:pPr marL="742950" lvl="1" indent="-285750">
              <a:buFont typeface="Arial" panose="020B0604020202020204" pitchFamily="34" charset="0"/>
              <a:buChar char="•"/>
            </a:pPr>
            <a:endParaRPr lang="en-US" dirty="0"/>
          </a:p>
        </p:txBody>
      </p:sp>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FBC35CFD-0295-DFCE-1803-1A99B4F394AA}"/>
                  </a:ext>
                </a:extLst>
              </p:cNvPr>
              <p:cNvSpPr txBox="1"/>
              <p:nvPr/>
            </p:nvSpPr>
            <p:spPr>
              <a:xfrm>
                <a:off x="5954192" y="1731176"/>
                <a:ext cx="6111737" cy="723018"/>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5</m:t>
                      </m:r>
                      <m:func>
                        <m:funcPr>
                          <m:ctrlPr>
                            <a:rPr lang="en-US" b="0" i="1" smtClean="0">
                              <a:latin typeface="Cambria Math" panose="02040503050406030204" pitchFamily="18" charset="0"/>
                            </a:rPr>
                          </m:ctrlPr>
                        </m:funcPr>
                        <m:fName>
                          <m:r>
                            <m:rPr>
                              <m:sty m:val="p"/>
                            </m:rPr>
                            <a:rPr lang="en-US" b="0" i="0" smtClean="0">
                              <a:latin typeface="Cambria Math" panose="02040503050406030204" pitchFamily="18" charset="0"/>
                            </a:rPr>
                            <m:t>min</m:t>
                          </m:r>
                        </m:fName>
                        <m:e>
                          <m:r>
                            <a:rPr lang="en-US" b="0" i="1" smtClean="0">
                              <a:latin typeface="Cambria Math" panose="02040503050406030204" pitchFamily="18" charset="0"/>
                            </a:rPr>
                            <m:t>∗60</m:t>
                          </m:r>
                          <m:f>
                            <m:fPr>
                              <m:ctrlPr>
                                <a:rPr lang="en-US" b="0" i="1" smtClean="0">
                                  <a:latin typeface="Cambria Math" panose="02040503050406030204" pitchFamily="18" charset="0"/>
                                </a:rPr>
                              </m:ctrlPr>
                            </m:fPr>
                            <m:num>
                              <m:r>
                                <a:rPr lang="en-US" b="0" i="1" smtClean="0">
                                  <a:latin typeface="Cambria Math" panose="02040503050406030204" pitchFamily="18" charset="0"/>
                                </a:rPr>
                                <m:t>𝑠𝑒𝑐</m:t>
                              </m:r>
                            </m:num>
                            <m:den>
                              <m:r>
                                <a:rPr lang="en-US" b="0" i="1" smtClean="0">
                                  <a:latin typeface="Cambria Math" panose="02040503050406030204" pitchFamily="18" charset="0"/>
                                </a:rPr>
                                <m:t>𝑚𝑖𝑛</m:t>
                              </m:r>
                            </m:den>
                          </m:f>
                        </m:e>
                      </m:func>
                      <m:r>
                        <a:rPr lang="en-US" b="0" i="1" smtClean="0">
                          <a:latin typeface="Cambria Math" panose="02040503050406030204" pitchFamily="18" charset="0"/>
                        </a:rPr>
                        <m:t>=</m:t>
                      </m:r>
                      <m:r>
                        <a:rPr lang="en-US" i="1">
                          <a:latin typeface="Cambria Math" panose="02040503050406030204" pitchFamily="18" charset="0"/>
                        </a:rPr>
                        <m:t> </m:t>
                      </m:r>
                      <m:f>
                        <m:fPr>
                          <m:ctrlPr>
                            <a:rPr lang="en-US" i="1">
                              <a:latin typeface="Cambria Math" panose="02040503050406030204" pitchFamily="18" charset="0"/>
                            </a:rPr>
                          </m:ctrlPr>
                        </m:fPr>
                        <m:num>
                          <m:r>
                            <a:rPr lang="en-US" i="1">
                              <a:latin typeface="Cambria Math" panose="02040503050406030204" pitchFamily="18" charset="0"/>
                            </a:rPr>
                            <m:t>𝑠𝑒𝑐𝑜𝑛𝑑𝑠</m:t>
                          </m:r>
                        </m:num>
                        <m:den>
                          <m:r>
                            <a:rPr lang="en-US" i="1">
                              <a:latin typeface="Cambria Math" panose="02040503050406030204" pitchFamily="18" charset="0"/>
                            </a:rPr>
                            <m:t>𝑟𝑒𝑣</m:t>
                          </m:r>
                        </m:den>
                      </m:f>
                      <m:r>
                        <a:rPr lang="en-US" b="0" i="1" smtClean="0">
                          <a:latin typeface="Cambria Math" panose="02040503050406030204" pitchFamily="18" charset="0"/>
                        </a:rPr>
                        <m:t> ∗</m:t>
                      </m:r>
                      <m:f>
                        <m:fPr>
                          <m:ctrlPr>
                            <a:rPr lang="en-US" b="0" i="1" smtClean="0">
                              <a:latin typeface="Cambria Math" panose="02040503050406030204" pitchFamily="18" charset="0"/>
                            </a:rPr>
                          </m:ctrlPr>
                        </m:fPr>
                        <m:num>
                          <m:r>
                            <a:rPr lang="en-US" i="1">
                              <a:latin typeface="Cambria Math" panose="02040503050406030204" pitchFamily="18" charset="0"/>
                            </a:rPr>
                            <m:t>𝐿𝑒𝑛𝑔𝑡h</m:t>
                          </m:r>
                          <m:r>
                            <a:rPr lang="en-US" i="1">
                              <a:latin typeface="Cambria Math" panose="02040503050406030204" pitchFamily="18" charset="0"/>
                            </a:rPr>
                            <m:t> </m:t>
                          </m:r>
                          <m:r>
                            <a:rPr lang="en-US" i="1">
                              <a:latin typeface="Cambria Math" panose="02040503050406030204" pitchFamily="18" charset="0"/>
                            </a:rPr>
                            <m:t>𝑜𝑓</m:t>
                          </m:r>
                          <m:r>
                            <a:rPr lang="en-US" i="1">
                              <a:latin typeface="Cambria Math" panose="02040503050406030204" pitchFamily="18" charset="0"/>
                            </a:rPr>
                            <m:t> </m:t>
                          </m:r>
                          <m:r>
                            <a:rPr lang="en-US" i="1">
                              <a:latin typeface="Cambria Math" panose="02040503050406030204" pitchFamily="18" charset="0"/>
                            </a:rPr>
                            <m:t>𝑊𝑒𝑖𝑔h𝑡</m:t>
                          </m:r>
                          <m:r>
                            <a:rPr lang="en-US" i="1">
                              <a:latin typeface="Cambria Math" panose="02040503050406030204" pitchFamily="18" charset="0"/>
                            </a:rPr>
                            <m:t> </m:t>
                          </m:r>
                          <m:r>
                            <a:rPr lang="en-US" i="1">
                              <a:latin typeface="Cambria Math" panose="02040503050406030204" pitchFamily="18" charset="0"/>
                            </a:rPr>
                            <m:t>𝑇𝑟𝑎𝑣𝑒𝑙</m:t>
                          </m:r>
                          <m:r>
                            <a:rPr lang="en-US" b="0" i="1" smtClean="0">
                              <a:latin typeface="Cambria Math" panose="02040503050406030204" pitchFamily="18" charset="0"/>
                            </a:rPr>
                            <m:t>(</m:t>
                          </m:r>
                          <m:r>
                            <a:rPr lang="en-US" b="0" i="1" smtClean="0">
                              <a:latin typeface="Cambria Math" panose="02040503050406030204" pitchFamily="18" charset="0"/>
                            </a:rPr>
                            <m:t>𝑚𝑚</m:t>
                          </m:r>
                          <m:r>
                            <a:rPr lang="en-US" b="0" i="1" smtClean="0">
                              <a:latin typeface="Cambria Math" panose="02040503050406030204" pitchFamily="18" charset="0"/>
                            </a:rPr>
                            <m:t>)</m:t>
                          </m:r>
                        </m:num>
                        <m:den>
                          <m:r>
                            <a:rPr lang="en-US" b="0" i="1" smtClean="0">
                              <a:latin typeface="Cambria Math" panose="02040503050406030204" pitchFamily="18" charset="0"/>
                            </a:rPr>
                            <m:t>𝑠𝑡𝑟𝑖𝑛𝑔</m:t>
                          </m:r>
                          <m:r>
                            <a:rPr lang="en-US" b="0" i="1" smtClean="0">
                              <a:latin typeface="Cambria Math" panose="02040503050406030204" pitchFamily="18" charset="0"/>
                            </a:rPr>
                            <m:t> </m:t>
                          </m:r>
                          <m:r>
                            <a:rPr lang="en-US" b="0" i="1" smtClean="0">
                              <a:latin typeface="Cambria Math" panose="02040503050406030204" pitchFamily="18" charset="0"/>
                            </a:rPr>
                            <m:t>𝑒𝑥𝑡𝑒𝑛𝑑𝑒𝑑</m:t>
                          </m:r>
                          <m:r>
                            <a:rPr lang="en-US" b="0" i="1" smtClean="0">
                              <a:latin typeface="Cambria Math" panose="02040503050406030204" pitchFamily="18" charset="0"/>
                            </a:rPr>
                            <m:t> </m:t>
                          </m:r>
                          <m:r>
                            <a:rPr lang="en-US" b="0" i="1" smtClean="0">
                              <a:latin typeface="Cambria Math" panose="02040503050406030204" pitchFamily="18" charset="0"/>
                            </a:rPr>
                            <m:t>𝑝𝑒𝑟</m:t>
                          </m:r>
                          <m:r>
                            <a:rPr lang="en-US" b="0" i="1" smtClean="0">
                              <a:latin typeface="Cambria Math" panose="02040503050406030204" pitchFamily="18" charset="0"/>
                            </a:rPr>
                            <m:t> </m:t>
                          </m:r>
                          <m:r>
                            <a:rPr lang="en-US" b="0" i="1" smtClean="0">
                              <a:latin typeface="Cambria Math" panose="02040503050406030204" pitchFamily="18" charset="0"/>
                            </a:rPr>
                            <m:t>𝑟𝑒𝑣</m:t>
                          </m:r>
                          <m:r>
                            <a:rPr lang="en-US" b="0" i="1" smtClean="0">
                              <a:latin typeface="Cambria Math" panose="02040503050406030204" pitchFamily="18" charset="0"/>
                            </a:rPr>
                            <m:t> </m:t>
                          </m:r>
                          <m:d>
                            <m:dPr>
                              <m:ctrlPr>
                                <a:rPr lang="en-US" b="0" i="1" smtClean="0">
                                  <a:latin typeface="Cambria Math" panose="02040503050406030204" pitchFamily="18" charset="0"/>
                                </a:rPr>
                              </m:ctrlPr>
                            </m:dPr>
                            <m:e>
                              <m:f>
                                <m:fPr>
                                  <m:ctrlPr>
                                    <a:rPr lang="en-US" b="0" i="1" smtClean="0">
                                      <a:latin typeface="Cambria Math" panose="02040503050406030204" pitchFamily="18" charset="0"/>
                                    </a:rPr>
                                  </m:ctrlPr>
                                </m:fPr>
                                <m:num>
                                  <m:r>
                                    <a:rPr lang="en-US" b="0" i="1" smtClean="0">
                                      <a:latin typeface="Cambria Math" panose="02040503050406030204" pitchFamily="18" charset="0"/>
                                    </a:rPr>
                                    <m:t>𝑚𝑚</m:t>
                                  </m:r>
                                </m:num>
                                <m:den>
                                  <m:r>
                                    <a:rPr lang="en-US" b="0" i="1" smtClean="0">
                                      <a:latin typeface="Cambria Math" panose="02040503050406030204" pitchFamily="18" charset="0"/>
                                    </a:rPr>
                                    <m:t>𝑟𝑒𝑣</m:t>
                                  </m:r>
                                </m:den>
                              </m:f>
                            </m:e>
                          </m:d>
                        </m:den>
                      </m:f>
                    </m:oMath>
                  </m:oMathPara>
                </a14:m>
                <a:endParaRPr lang="en-US" dirty="0"/>
              </a:p>
            </p:txBody>
          </p:sp>
        </mc:Choice>
        <mc:Fallback xmlns="">
          <p:sp>
            <p:nvSpPr>
              <p:cNvPr id="6" name="TextBox 5">
                <a:extLst>
                  <a:ext uri="{FF2B5EF4-FFF2-40B4-BE49-F238E27FC236}">
                    <a16:creationId xmlns:a16="http://schemas.microsoft.com/office/drawing/2014/main" id="{FBC35CFD-0295-DFCE-1803-1A99B4F394AA}"/>
                  </a:ext>
                </a:extLst>
              </p:cNvPr>
              <p:cNvSpPr txBox="1">
                <a:spLocks noRot="1" noChangeAspect="1" noMove="1" noResize="1" noEditPoints="1" noAdjustHandles="1" noChangeArrowheads="1" noChangeShapeType="1" noTextEdit="1"/>
              </p:cNvSpPr>
              <p:nvPr/>
            </p:nvSpPr>
            <p:spPr>
              <a:xfrm>
                <a:off x="5954192" y="1731176"/>
                <a:ext cx="6111737" cy="723018"/>
              </a:xfrm>
              <a:prstGeom prst="rect">
                <a:avLst/>
              </a:prstGeom>
              <a:blipFill>
                <a:blip r:embed="rId2"/>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D05AEA14-92E1-ADF3-E79E-1D6AEAF41850}"/>
                  </a:ext>
                </a:extLst>
              </p:cNvPr>
              <p:cNvSpPr txBox="1"/>
              <p:nvPr/>
            </p:nvSpPr>
            <p:spPr>
              <a:xfrm>
                <a:off x="8197540" y="2630155"/>
                <a:ext cx="3038844" cy="71583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300</m:t>
                      </m:r>
                      <m:func>
                        <m:funcPr>
                          <m:ctrlPr>
                            <a:rPr lang="en-US" b="0" i="1" smtClean="0">
                              <a:latin typeface="Cambria Math" panose="02040503050406030204" pitchFamily="18" charset="0"/>
                            </a:rPr>
                          </m:ctrlPr>
                        </m:funcPr>
                        <m:fName>
                          <m:r>
                            <m:rPr>
                              <m:sty m:val="p"/>
                            </m:rPr>
                            <a:rPr lang="en-US" b="0" i="0" smtClean="0">
                              <a:latin typeface="Cambria Math" panose="02040503050406030204" pitchFamily="18" charset="0"/>
                            </a:rPr>
                            <m:t>sec</m:t>
                          </m:r>
                        </m:fName>
                        <m:e>
                          <m:r>
                            <a:rPr lang="en-US" b="0" i="1" smtClean="0">
                              <a:latin typeface="Cambria Math" panose="02040503050406030204" pitchFamily="18" charset="0"/>
                              <a:ea typeface="Cambria Math" panose="02040503050406030204" pitchFamily="18" charset="0"/>
                            </a:rPr>
                            <m:t>≈</m:t>
                          </m:r>
                        </m:e>
                      </m:func>
                      <m:r>
                        <a:rPr lang="en-US" b="0" i="1" smtClean="0">
                          <a:latin typeface="Cambria Math" panose="02040503050406030204" pitchFamily="18" charset="0"/>
                        </a:rPr>
                        <m:t>10</m:t>
                      </m:r>
                      <m:r>
                        <a:rPr lang="en-US" i="1">
                          <a:latin typeface="Cambria Math" panose="02040503050406030204" pitchFamily="18" charset="0"/>
                        </a:rPr>
                        <m:t> </m:t>
                      </m:r>
                      <m:f>
                        <m:fPr>
                          <m:ctrlPr>
                            <a:rPr lang="en-US" i="1">
                              <a:latin typeface="Cambria Math" panose="02040503050406030204" pitchFamily="18" charset="0"/>
                            </a:rPr>
                          </m:ctrlPr>
                        </m:fPr>
                        <m:num>
                          <m:r>
                            <a:rPr lang="en-US" i="1">
                              <a:latin typeface="Cambria Math" panose="02040503050406030204" pitchFamily="18" charset="0"/>
                            </a:rPr>
                            <m:t>𝑠𝑒𝑐</m:t>
                          </m:r>
                        </m:num>
                        <m:den>
                          <m:r>
                            <a:rPr lang="en-US" i="1">
                              <a:latin typeface="Cambria Math" panose="02040503050406030204" pitchFamily="18" charset="0"/>
                            </a:rPr>
                            <m:t>𝑟𝑒𝑣</m:t>
                          </m:r>
                        </m:den>
                      </m:f>
                      <m:r>
                        <a:rPr lang="en-US" b="0" i="1" smtClean="0">
                          <a:latin typeface="Cambria Math" panose="02040503050406030204" pitchFamily="18" charset="0"/>
                        </a:rPr>
                        <m:t> ∗</m:t>
                      </m:r>
                      <m:f>
                        <m:fPr>
                          <m:ctrlPr>
                            <a:rPr lang="en-US" b="0" i="1" smtClean="0">
                              <a:latin typeface="Cambria Math" panose="02040503050406030204" pitchFamily="18" charset="0"/>
                            </a:rPr>
                          </m:ctrlPr>
                        </m:fPr>
                        <m:num>
                          <m:r>
                            <a:rPr lang="en-US" i="1" smtClean="0">
                              <a:latin typeface="Cambria Math" panose="02040503050406030204" pitchFamily="18" charset="0"/>
                            </a:rPr>
                            <m:t>3</m:t>
                          </m:r>
                          <m:r>
                            <a:rPr lang="en-US" b="0" i="1" smtClean="0">
                              <a:latin typeface="Cambria Math" panose="02040503050406030204" pitchFamily="18" charset="0"/>
                            </a:rPr>
                            <m:t>00 </m:t>
                          </m:r>
                          <m:r>
                            <a:rPr lang="en-US" b="0" i="1" smtClean="0">
                              <a:latin typeface="Cambria Math" panose="02040503050406030204" pitchFamily="18" charset="0"/>
                            </a:rPr>
                            <m:t>𝑚𝑚</m:t>
                          </m:r>
                        </m:num>
                        <m:den>
                          <m:r>
                            <a:rPr lang="en-US" b="0" i="1" smtClean="0">
                              <a:latin typeface="Cambria Math" panose="02040503050406030204" pitchFamily="18" charset="0"/>
                            </a:rPr>
                            <m:t>3</m:t>
                          </m:r>
                          <m:r>
                            <a:rPr lang="en-US" b="0" i="1" smtClean="0">
                              <a:latin typeface="Cambria Math" panose="02040503050406030204" pitchFamily="18" charset="0"/>
                              <a:ea typeface="Cambria Math" panose="02040503050406030204" pitchFamily="18" charset="0"/>
                            </a:rPr>
                            <m:t>𝜋</m:t>
                          </m:r>
                          <m:d>
                            <m:dPr>
                              <m:ctrlPr>
                                <a:rPr lang="en-US" b="0" i="1" smtClean="0">
                                  <a:latin typeface="Cambria Math" panose="02040503050406030204" pitchFamily="18" charset="0"/>
                                </a:rPr>
                              </m:ctrlPr>
                            </m:dPr>
                            <m:e>
                              <m:f>
                                <m:fPr>
                                  <m:ctrlPr>
                                    <a:rPr lang="en-US" b="0" i="1" smtClean="0">
                                      <a:latin typeface="Cambria Math" panose="02040503050406030204" pitchFamily="18" charset="0"/>
                                    </a:rPr>
                                  </m:ctrlPr>
                                </m:fPr>
                                <m:num>
                                  <m:r>
                                    <a:rPr lang="en-US" b="0" i="1" smtClean="0">
                                      <a:latin typeface="Cambria Math" panose="02040503050406030204" pitchFamily="18" charset="0"/>
                                    </a:rPr>
                                    <m:t>𝑚𝑚</m:t>
                                  </m:r>
                                </m:num>
                                <m:den>
                                  <m:r>
                                    <a:rPr lang="en-US" b="0" i="1" smtClean="0">
                                      <a:latin typeface="Cambria Math" panose="02040503050406030204" pitchFamily="18" charset="0"/>
                                    </a:rPr>
                                    <m:t>𝑟𝑒𝑣</m:t>
                                  </m:r>
                                </m:den>
                              </m:f>
                            </m:e>
                          </m:d>
                        </m:den>
                      </m:f>
                    </m:oMath>
                  </m:oMathPara>
                </a14:m>
                <a:endParaRPr lang="en-US" dirty="0"/>
              </a:p>
            </p:txBody>
          </p:sp>
        </mc:Choice>
        <mc:Fallback xmlns="">
          <p:sp>
            <p:nvSpPr>
              <p:cNvPr id="7" name="TextBox 6">
                <a:extLst>
                  <a:ext uri="{FF2B5EF4-FFF2-40B4-BE49-F238E27FC236}">
                    <a16:creationId xmlns:a16="http://schemas.microsoft.com/office/drawing/2014/main" id="{D05AEA14-92E1-ADF3-E79E-1D6AEAF41850}"/>
                  </a:ext>
                </a:extLst>
              </p:cNvPr>
              <p:cNvSpPr txBox="1">
                <a:spLocks noRot="1" noChangeAspect="1" noMove="1" noResize="1" noEditPoints="1" noAdjustHandles="1" noChangeArrowheads="1" noChangeShapeType="1" noTextEdit="1"/>
              </p:cNvSpPr>
              <p:nvPr/>
            </p:nvSpPr>
            <p:spPr>
              <a:xfrm>
                <a:off x="8197540" y="2630155"/>
                <a:ext cx="3038844" cy="715837"/>
              </a:xfrm>
              <a:prstGeom prst="rect">
                <a:avLst/>
              </a:prstGeom>
              <a:blipFill>
                <a:blip r:embed="rId3"/>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295313590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11638</TotalTime>
  <Words>1258</Words>
  <Application>Microsoft Office PowerPoint</Application>
  <PresentationFormat>Widescreen</PresentationFormat>
  <Paragraphs>88</Paragraphs>
  <Slides>17</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17</vt:i4>
      </vt:variant>
    </vt:vector>
  </HeadingPairs>
  <TitlesOfParts>
    <vt:vector size="23" baseType="lpstr">
      <vt:lpstr>Arial</vt:lpstr>
      <vt:lpstr>Calibri</vt:lpstr>
      <vt:lpstr>Calibri Light</vt:lpstr>
      <vt:lpstr>Cambria Math</vt:lpstr>
      <vt:lpstr>Sylfaen</vt:lpstr>
      <vt:lpstr>Office Theme</vt:lpstr>
      <vt:lpstr>Automatic Tea Steeper Contraption Design Overview</vt:lpstr>
      <vt:lpstr>PowerPoint Presentation</vt:lpstr>
      <vt:lpstr>Main Mechanism Overview</vt:lpstr>
      <vt:lpstr>Flying Pendulum Escapement</vt:lpstr>
      <vt:lpstr>Sub Assembles</vt:lpstr>
      <vt:lpstr>PowerPoint Presentation</vt:lpstr>
      <vt:lpstr>Resetting the device</vt:lpstr>
      <vt:lpstr>PowerPoint Presentation</vt:lpstr>
      <vt:lpstr>Wheel and drum</vt:lpstr>
      <vt:lpstr>Steeping Complete Notification Contraption</vt:lpstr>
      <vt:lpstr>PowerPoint Presentation</vt:lpstr>
      <vt:lpstr>PowerPoint Presentation</vt:lpstr>
      <vt:lpstr>Tea Bag Lifter Mechanism</vt:lpstr>
      <vt:lpstr>Wooden Base</vt:lpstr>
      <vt:lpstr>Tea Organizer base</vt:lpstr>
      <vt:lpstr>String and Weight</vt:lpstr>
      <vt:lpstr>Parameters influencing steeping time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Tom Dunbar</dc:creator>
  <cp:lastModifiedBy>Tom Dunbar</cp:lastModifiedBy>
  <cp:revision>57</cp:revision>
  <dcterms:created xsi:type="dcterms:W3CDTF">2024-06-28T21:16:36Z</dcterms:created>
  <dcterms:modified xsi:type="dcterms:W3CDTF">2026-10-05T12:31:57Z</dcterms:modified>
</cp:coreProperties>
</file>